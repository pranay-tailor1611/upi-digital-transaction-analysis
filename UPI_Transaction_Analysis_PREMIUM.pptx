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10972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347472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474720" cy="27432"/>
          </a:xfrm>
          <a:prstGeom prst="rect">
            <a:avLst/>
          </a:prstGeom>
          <a:solidFill>
            <a:srgbClr val="9C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474720" cy="27432"/>
          </a:xfrm>
          <a:prstGeom prst="rect">
            <a:avLst/>
          </a:prstGeom>
          <a:solidFill>
            <a:srgbClr val="9C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UPI Digital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9A84C"/>
                </a:solidFill>
                <a:latin typeface="Calibri"/>
              </a:rPr>
              <a:t>Data Analysis &amp; 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56432"/>
            <a:ext cx="7406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9C"/>
                </a:solidFill>
                <a:latin typeface="Calibri"/>
              </a:rPr>
              <a:t>Understanding Patterns, Risk &amp; Behaviour in India's Digital Payment Ecosystem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389120"/>
            <a:ext cx="3200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19" y="4572000"/>
            <a:ext cx="5029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dirty="0">
                <a:solidFill>
                  <a:srgbClr val="C9A84C"/>
                </a:solidFill>
                <a:latin typeface="Calibri"/>
              </a:rPr>
              <a:t>NAME : </a:t>
            </a:r>
            <a:r>
              <a:rPr lang="en-IN" sz="2000" b="1" dirty="0">
                <a:solidFill>
                  <a:schemeClr val="bg1">
                    <a:lumMod val="95000"/>
                  </a:schemeClr>
                </a:solidFill>
                <a:latin typeface="Calibri"/>
              </a:rPr>
              <a:t>PRANAY TAILOR</a:t>
            </a:r>
          </a:p>
          <a:p>
            <a:r>
              <a:rPr lang="en-IN" sz="2000" b="1" dirty="0">
                <a:solidFill>
                  <a:srgbClr val="C9A84C"/>
                </a:solidFill>
                <a:latin typeface="Calibri"/>
              </a:rPr>
              <a:t>REGISTRATION NO. </a:t>
            </a:r>
            <a:r>
              <a:rPr lang="en-IN" sz="2000" b="1" dirty="0">
                <a:solidFill>
                  <a:srgbClr val="C9A84C"/>
                </a:solidFill>
              </a:rPr>
              <a:t>:  </a:t>
            </a:r>
            <a:r>
              <a:rPr lang="en-IN" sz="2000" b="1" dirty="0">
                <a:solidFill>
                  <a:schemeClr val="bg1">
                    <a:lumMod val="95000"/>
                  </a:schemeClr>
                </a:solidFill>
              </a:rPr>
              <a:t>CL20260703011712929 </a:t>
            </a:r>
          </a:p>
          <a:p>
            <a:endParaRPr sz="2000" b="1" i="0" dirty="0">
              <a:solidFill>
                <a:schemeClr val="bg1">
                  <a:lumMod val="95000"/>
                </a:schemeClr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03920" y="13716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71907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2286000"/>
            <a:ext cx="32004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58200" y="248716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2487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3090672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Pandas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3694176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41080" y="36941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NumPy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4297680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4297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Matplotlib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4901184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41080" y="49011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Seaborn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550468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41080" y="55046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Plotly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9C"/>
                </a:solidFill>
                <a:latin typeface="Calibri"/>
              </a:rPr>
              <a:t>2024  ·  25 Slides  ·  250,000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624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62456"/>
            <a:ext cx="5486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4356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15270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Introduction &amp; About UPI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2768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276856"/>
            <a:ext cx="5486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23500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24414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Business Understanding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1912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191256"/>
            <a:ext cx="5486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32644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33558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Problem Statement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1056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4105656"/>
            <a:ext cx="5486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41788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19" y="42702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Project Objectives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50200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5020056"/>
            <a:ext cx="5486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50932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" y="51846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Project 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59344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5934456"/>
            <a:ext cx="5486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60076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19" y="60990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Technology Stack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73552" y="13624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73552" y="1362456"/>
            <a:ext cx="54864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38144" y="14356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13632" y="15270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Data Collection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73552" y="22768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73552" y="2276856"/>
            <a:ext cx="54864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38144" y="23500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2" y="24414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Dataset Overview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73552" y="31912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73552" y="3191256"/>
            <a:ext cx="54864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38144" y="32644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13632" y="33558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Dataset Features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73552" y="41056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73552" y="4105656"/>
            <a:ext cx="54864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38144" y="41788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13632" y="42702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Data Understanding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73552" y="50200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73552" y="5020056"/>
            <a:ext cx="54864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38144" y="50932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13632" y="51846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Data Cleaning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73552" y="59344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273552" y="5934456"/>
            <a:ext cx="54864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38144" y="60076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60990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EDA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13624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217920" y="1362456"/>
            <a:ext cx="5486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82512" y="14356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15270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Business Questions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22768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17920" y="2276856"/>
            <a:ext cx="5486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82512" y="23500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24414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Data Visualization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31912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217920" y="3191256"/>
            <a:ext cx="5486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82512" y="32644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33558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Business Analysis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17920" y="41056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217920" y="4105656"/>
            <a:ext cx="5486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82512" y="41788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0" y="42702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Key Findings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50200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217920" y="5020056"/>
            <a:ext cx="5486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82512" y="50932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51846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Recommendations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17920" y="59344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17920" y="5934456"/>
            <a:ext cx="5486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82512" y="60076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18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0" y="60990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Real-world Applications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171432" y="13624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171432" y="1362456"/>
            <a:ext cx="54864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336024" y="14356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19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11511" y="15270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Limitations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171432" y="22768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171432" y="2276856"/>
            <a:ext cx="54864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336024" y="23500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11511" y="24414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Future Scope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171432" y="31912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171432" y="3191256"/>
            <a:ext cx="54864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336024" y="32644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21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11511" y="33558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Conclusion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171432" y="4105656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9171432" y="4105656"/>
            <a:ext cx="54864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336024" y="4178808"/>
            <a:ext cx="457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22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11511" y="427024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2B22"/>
                </a:solidFill>
                <a:latin typeface="Calibri"/>
              </a:rP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UPI — India's Digital Payment Revolution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44168"/>
            <a:ext cx="3931920" cy="530352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44168"/>
            <a:ext cx="39319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9961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What is UPI?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02536"/>
            <a:ext cx="356616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267712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139696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Unified Payments Interface (UPI)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79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798063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Launched by NPCI in 2016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8444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45643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Real-time, 24×7 bank transfers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42816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Works via BHIM, GPay, PhonePe, Paytm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01183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773168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Processes Billions of transactions/month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59551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431536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Backbone of India's digital economy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380744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2B22"/>
                </a:solidFill>
                <a:latin typeface="Calibri"/>
              </a:rPr>
              <a:t>Project Background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1865376"/>
            <a:ext cx="7315200" cy="3657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72000" y="2075688"/>
            <a:ext cx="7315200" cy="5943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0" y="2075688"/>
            <a:ext cx="64008" cy="5943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36592" y="2167128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UPI has revolutionised how India pays — from corner grocery shops to large enterprises, everyone uses UPI.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2788920"/>
            <a:ext cx="7315200" cy="5943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2788920"/>
            <a:ext cx="64008" cy="5943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36592" y="2880360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This project performs a full industry-grade EDA on 2,50,000+ UPI transactions.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3502152"/>
            <a:ext cx="7315200" cy="5943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0" y="3502152"/>
            <a:ext cx="64008" cy="5943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36592" y="3593592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We uncover hidden patterns in transaction types, merchant categories, time-based trends, fraud signals, and failure rates.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4215383"/>
            <a:ext cx="7315200" cy="5943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0" y="4215383"/>
            <a:ext cx="64008" cy="5943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36592" y="4306823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The insights are directly useful for banks, FinTech companies, payment gateways, and regulators.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4928616"/>
            <a:ext cx="7315200" cy="5943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0" y="4928616"/>
            <a:ext cx="64008" cy="5943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36592" y="5020056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Tools: Python, Pandas, NumPy, Matplotlib, Seaborn, Plotly — all open-source, industry-standard libraries.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5641848"/>
            <a:ext cx="7315200" cy="5943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2000" y="5641848"/>
            <a:ext cx="64008" cy="5943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36592" y="5733288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Business Value: Data-driven decisions to improve reliability, reduce fraud, and enhance customer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Context, Stakeholders &amp; Expected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8074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KEY STAKEHOLDERS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37943"/>
            <a:ext cx="5669280" cy="8412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837943"/>
            <a:ext cx="54864" cy="8412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203911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B22"/>
                </a:solidFill>
                <a:latin typeface="Calibri"/>
              </a:rPr>
              <a:t>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2938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22"/>
                </a:solidFill>
                <a:latin typeface="Calibri"/>
              </a:rPr>
              <a:t>Banks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9514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Monitor failures, manage risk, detect fraud, ensure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807208"/>
            <a:ext cx="5669280" cy="8412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807208"/>
            <a:ext cx="54864" cy="8412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300837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B22"/>
                </a:solidFill>
                <a:latin typeface="Calibri"/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986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22"/>
                </a:solidFill>
                <a:latin typeface="Calibri"/>
              </a:rPr>
              <a:t>Payment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644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Improve UX, reduce failures, grow user 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776472"/>
            <a:ext cx="5669280" cy="8412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776472"/>
            <a:ext cx="54864" cy="8412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977639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B22"/>
                </a:solidFill>
                <a:latin typeface="Calibri"/>
              </a:rPr>
              <a:t>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86791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22"/>
                </a:solidFill>
                <a:latin typeface="Calibri"/>
              </a:rPr>
              <a:t>Merchants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336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Understand consumer spend patterns &amp; timings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745736"/>
            <a:ext cx="5669280" cy="8412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4745736"/>
            <a:ext cx="54864" cy="8412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4946903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B22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837175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22"/>
                </a:solidFill>
                <a:latin typeface="Calibri"/>
              </a:rPr>
              <a:t>Regulators (NPCI / RBI)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20293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Ensure security, set policy, monitor ecosystem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5715000"/>
            <a:ext cx="5669280" cy="8412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5715000"/>
            <a:ext cx="54864" cy="8412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" y="591616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2B22"/>
                </a:solidFill>
                <a:latin typeface="Calibri"/>
              </a:rPr>
              <a:t>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8064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22"/>
                </a:solidFill>
                <a:latin typeface="Calibri"/>
              </a:rPr>
              <a:t>Data Scientists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61722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Build ML models for fraud detection &amp; 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3807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BUSINESS CHALLENGES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1837943"/>
            <a:ext cx="5577840" cy="54864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1837943"/>
            <a:ext cx="54864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1929384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High transaction failure rates affecting customer trust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2496311"/>
            <a:ext cx="5577840" cy="54864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2496311"/>
            <a:ext cx="54864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587751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Rising fraud and unauthorised transactions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3154679"/>
            <a:ext cx="5577840" cy="54864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09360" y="3154679"/>
            <a:ext cx="54864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3246120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Uneven digital adoption across states &amp; demographics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3813048"/>
            <a:ext cx="5577840" cy="54864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09360" y="3813048"/>
            <a:ext cx="54864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3904487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Lack of structured insights from raw transactional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4471416"/>
            <a:ext cx="5577840" cy="54864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309360" y="4471416"/>
            <a:ext cx="54864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92240" y="4562855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Poor real-time monitoring &amp; alerting capabilities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2760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EXPECTED OUTCOMES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5733288"/>
            <a:ext cx="5577840" cy="47548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09360" y="5733288"/>
            <a:ext cx="54864" cy="47548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92240" y="5824728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46C4E"/>
                </a:solidFill>
                <a:latin typeface="Calibri"/>
              </a:rPr>
              <a:t>Identify top transaction types, banks &amp; states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9360" y="6300216"/>
            <a:ext cx="5577840" cy="47548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309360" y="6300216"/>
            <a:ext cx="54864" cy="47548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92240" y="639165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46C4E"/>
                </a:solidFill>
                <a:latin typeface="Calibri"/>
              </a:rPr>
              <a:t>Spot time-based usage patterns (hour, day, month)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6867144"/>
            <a:ext cx="5577840" cy="47548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309360" y="6867144"/>
            <a:ext cx="54864" cy="47548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92240" y="6958584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46C4E"/>
                </a:solidFill>
                <a:latin typeface="Calibri"/>
              </a:rPr>
              <a:t>Measure fraud rate &amp; highlight risk categories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0" y="7434072"/>
            <a:ext cx="5577840" cy="47548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309360" y="7434072"/>
            <a:ext cx="54864" cy="47548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92240" y="7525512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46C4E"/>
                </a:solidFill>
                <a:latin typeface="Calibri"/>
              </a:rPr>
              <a:t>Provide actionable recommendations for all stakeholders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The Core Question this Project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62456"/>
            <a:ext cx="11521440" cy="1417320"/>
          </a:xfrm>
          <a:prstGeom prst="roundRect">
            <a:avLst>
              <a:gd name="adj" fmla="val 20000"/>
            </a:avLst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62456"/>
            <a:ext cx="73152" cy="1417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99616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libri"/>
              </a:rPr>
              <a:t>How can we analyse 2,50,000+ UPI transactions to uncover behavioural patterns, operational bottlenecks (failures), and fraud risk signals — helping banks, FinTech companies, and regulators make smarter, data-driven decisions?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008376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KEY PROBLEM AREAS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465576"/>
            <a:ext cx="2816352" cy="3246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3465576"/>
            <a:ext cx="28163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66674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C2626"/>
                </a:solidFill>
                <a:latin typeface="Calibri"/>
              </a:rPr>
              <a:t>Failure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05656"/>
            <a:ext cx="24688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215383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Which transaction types, banks, and states have the highest failure rates? Why?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465576"/>
            <a:ext cx="2816352" cy="3246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91840" y="3465576"/>
            <a:ext cx="28163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366674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9A84C"/>
                </a:solidFill>
                <a:latin typeface="Calibri"/>
              </a:rPr>
              <a:t>Fraud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4105656"/>
            <a:ext cx="24688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4215383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Which transactions show fraud signals? What patterns correlate with fraud?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465576"/>
            <a:ext cx="2816352" cy="3246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465576"/>
            <a:ext cx="2816352" cy="7315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66674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46C4E"/>
                </a:solidFill>
                <a:latin typeface="Calibri"/>
              </a:rPr>
              <a:t>Usage Patterns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105656"/>
            <a:ext cx="24688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4215383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When do people transact most — by hour, day, or month? Which categories dominate?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465576"/>
            <a:ext cx="2816352" cy="3246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35440" y="3465576"/>
            <a:ext cx="2816352" cy="7315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19" y="366674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Bank &amp; State Insights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19" y="4105656"/>
            <a:ext cx="24688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19" y="4215383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Which banks handle the most transactions? Which states lead in digital adoption?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Seven Goals that Drive this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80744"/>
            <a:ext cx="5742432" cy="12984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80744"/>
            <a:ext cx="475488" cy="12984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847087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472184"/>
            <a:ext cx="5084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Perform Full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3"/>
            <a:ext cx="508406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Complete exploratory data analysis on 2,50,000+ UPI 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380744"/>
            <a:ext cx="5742432" cy="12984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59" y="1380744"/>
            <a:ext cx="475488" cy="12984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59" y="1847087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472184"/>
            <a:ext cx="5084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Clean &amp; Prepare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1837943"/>
            <a:ext cx="508406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Handle missing values, remove duplicates, engineer features for richer 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825496"/>
            <a:ext cx="5742432" cy="12984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825496"/>
            <a:ext cx="475488" cy="12984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291839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2916936"/>
            <a:ext cx="5084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Answer 20 Business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282696"/>
            <a:ext cx="508406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Answer real-world questions on usage, fraud, failures, banks &amp; states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2825496"/>
            <a:ext cx="5742432" cy="12984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59" y="2825496"/>
            <a:ext cx="475488" cy="12984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59" y="3291839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2916936"/>
            <a:ext cx="5084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Visualise Key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282696"/>
            <a:ext cx="508406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Use Matplotlib, Seaborn &amp; Plotly to create professional, insightful charts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270248"/>
            <a:ext cx="5742432" cy="12984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270248"/>
            <a:ext cx="475488" cy="12984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473659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361688"/>
            <a:ext cx="5084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Detect Fraud Signals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727448"/>
            <a:ext cx="508406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Identify fraud patterns by transaction type, time, amount &amp; device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4270248"/>
            <a:ext cx="5742432" cy="12984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59" y="4270248"/>
            <a:ext cx="475488" cy="12984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59" y="473659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361688"/>
            <a:ext cx="5084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Analyse Failures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4727448"/>
            <a:ext cx="508406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Find which banks &amp; states have the highest transaction failure rates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" y="5715000"/>
            <a:ext cx="5742432" cy="12984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5715000"/>
            <a:ext cx="475488" cy="12984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618134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" y="5806440"/>
            <a:ext cx="5084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Provide Recommendations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" y="6172200"/>
            <a:ext cx="508406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Deliver actionable recommendations for banks, payment firms &amp; merchants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Data Analytics Project Lifecycle —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80744"/>
            <a:ext cx="2715768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80744"/>
            <a:ext cx="2715768" cy="5486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" y="1581912"/>
            <a:ext cx="347472" cy="34747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15819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5453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Business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47672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Define problem &amp; stakeholders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78892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6C4E"/>
                </a:solidFill>
                <a:latin typeface="Calibr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916936"/>
            <a:ext cx="2715768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2916936"/>
            <a:ext cx="2715768" cy="5486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" y="3118104"/>
            <a:ext cx="347472" cy="34747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31181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08152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Data 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83864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Load CSV, verify dataset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32511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6C4E"/>
                </a:solidFill>
                <a:latin typeface="Calibr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453128"/>
            <a:ext cx="2715768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4453128"/>
            <a:ext cx="2715768" cy="5486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" y="4654296"/>
            <a:ext cx="347472" cy="34747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8" y="4654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Data Understanding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020056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Shape, types, statistics, distributions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1380744"/>
            <a:ext cx="2715768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46120" y="1380744"/>
            <a:ext cx="2715768" cy="54864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55848" y="1581912"/>
            <a:ext cx="347472" cy="347472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55848" y="15819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3048" y="15453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Data Cleaning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3048" y="1947672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Missing values, duplicates, type conversion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278892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946A"/>
                </a:solidFill>
                <a:latin typeface="Calibri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6120" y="2916936"/>
            <a:ext cx="2715768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6120" y="2916936"/>
            <a:ext cx="2715768" cy="54864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355848" y="3118104"/>
            <a:ext cx="347472" cy="347472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55848" y="31181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3048" y="308152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Data Preprocessing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3048" y="3483864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Outlier handling, normalisation, encoding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432511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946A"/>
                </a:solidFill>
                <a:latin typeface="Calibr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46120" y="4453128"/>
            <a:ext cx="2715768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46120" y="4453128"/>
            <a:ext cx="2715768" cy="54864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355848" y="4654296"/>
            <a:ext cx="347472" cy="347472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55848" y="4654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3048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Feature Engineering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3048" y="5020056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Extract hour, day, month, quarter from timestamp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1380744"/>
            <a:ext cx="2715768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72200" y="1380744"/>
            <a:ext cx="2715768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81928" y="1581912"/>
            <a:ext cx="3474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81928" y="15819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39128" y="15453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EDA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39128" y="1947672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Univariate, bivariate, time-series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278892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2916936"/>
            <a:ext cx="2715768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72200" y="2916936"/>
            <a:ext cx="2715768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281928" y="3118104"/>
            <a:ext cx="3474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81928" y="31181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39128" y="308152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Data Visualization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39128" y="3483864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Matplotlib, Seaborn &amp; Plotly charts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432511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4453128"/>
            <a:ext cx="2715768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172200" y="4453128"/>
            <a:ext cx="2715768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281928" y="4654296"/>
            <a:ext cx="3474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81928" y="4654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39128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Business Analysis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39128" y="5020056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Cross-category patterns &amp; comparisons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98280" y="1380744"/>
            <a:ext cx="2715768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098280" y="1380744"/>
            <a:ext cx="2715768" cy="5486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208007" y="1581912"/>
            <a:ext cx="347472" cy="34747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08007" y="15819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65207" y="15453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Insights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65207" y="1947672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Key findings across all dimensions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95559" y="278892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2B22"/>
                </a:solidFill>
                <a:latin typeface="Calibri"/>
              </a:rPr>
              <a:t>↓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98280" y="2916936"/>
            <a:ext cx="2715768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098280" y="2916936"/>
            <a:ext cx="2715768" cy="5486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208007" y="3118104"/>
            <a:ext cx="347472" cy="34747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208007" y="31181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65207" y="308152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C2B22"/>
                </a:solidFill>
                <a:latin typeface="Calibri"/>
              </a:rPr>
              <a:t>Recommendations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65207" y="3483864"/>
            <a:ext cx="2057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Actionable advice for each stakeholder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90672" y="2295144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16751" y="2295144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42832" y="2295144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98280" y="4453128"/>
            <a:ext cx="271576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6C4E"/>
                </a:solidFill>
                <a:latin typeface="Calibri"/>
              </a:rPr>
              <a:t>→ Conclusion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98280" y="4453128"/>
            <a:ext cx="2715768" cy="138988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098280" y="4910328"/>
            <a:ext cx="2715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6C4E"/>
                </a:solidFill>
                <a:latin typeface="Calibri"/>
              </a:rPr>
              <a:t>→  Conclusion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Open-Source Tools Powering this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408176"/>
            <a:ext cx="2807208" cy="23591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408176"/>
            <a:ext cx="2807208" cy="640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4632" y="1636776"/>
            <a:ext cx="502920" cy="50292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16642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Python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231136"/>
            <a:ext cx="24688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2340864"/>
            <a:ext cx="24871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Core programming language for all analysis, data manipulation and visualisation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08176"/>
            <a:ext cx="2807208" cy="23591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1408176"/>
            <a:ext cx="2807208" cy="6400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56432" y="1636776"/>
            <a:ext cx="502920" cy="50292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16642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Pandas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2231136"/>
            <a:ext cx="24688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56432" y="2340864"/>
            <a:ext cx="24871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DataFrame-based library for data loading, cleaning, transformation and grouping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08176"/>
            <a:ext cx="2807208" cy="23591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1408176"/>
            <a:ext cx="2807208" cy="640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28231" y="1636776"/>
            <a:ext cx="502920" cy="50292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86600" y="16642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NumPy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8231" y="2231136"/>
            <a:ext cx="24688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1" y="2340864"/>
            <a:ext cx="24871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Numerical computing — arrays, math operations, statistical functions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408176"/>
            <a:ext cx="2807208" cy="23591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235440" y="1408176"/>
            <a:ext cx="2807208" cy="6400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00032" y="1636776"/>
            <a:ext cx="502920" cy="50292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0" y="16642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Matplotlib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00032" y="2231136"/>
            <a:ext cx="24688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00032" y="2340864"/>
            <a:ext cx="24871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Foundation plotting library for histograms, box plots and bar charts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3968496"/>
            <a:ext cx="2807208" cy="23591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968496"/>
            <a:ext cx="2807208" cy="640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84632" y="4197096"/>
            <a:ext cx="502920" cy="50292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422452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Seaborn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" y="4791456"/>
            <a:ext cx="24688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" y="4901183"/>
            <a:ext cx="24871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Statistical visualisation built on Matplotlib — heatmaps, pair plots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3968496"/>
            <a:ext cx="2807208" cy="23591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91840" y="3968496"/>
            <a:ext cx="2807208" cy="6400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456432" y="4197096"/>
            <a:ext cx="502920" cy="50292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0" y="422452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Plotly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56432" y="4791456"/>
            <a:ext cx="24688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56432" y="4901183"/>
            <a:ext cx="24871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Interactive, browser-based charts — bar charts, choropleth maps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968496"/>
            <a:ext cx="2807208" cy="23591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63640" y="3968496"/>
            <a:ext cx="2807208" cy="640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28231" y="4197096"/>
            <a:ext cx="502920" cy="50292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86600" y="422452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Jupyter Notebook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28231" y="4791456"/>
            <a:ext cx="24688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28231" y="4901183"/>
            <a:ext cx="24871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Interactive coding environment for live code, markdown and output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3968496"/>
            <a:ext cx="2807208" cy="23591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235440" y="3968496"/>
            <a:ext cx="2807208" cy="6400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400032" y="4197096"/>
            <a:ext cx="502920" cy="50292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58400" y="422452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CSV / Pandas I/O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00032" y="4791456"/>
            <a:ext cx="24688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00032" y="4901183"/>
            <a:ext cx="248716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Data ingested as CSV; cleaned dataset exported as upi_dataset_clean.csv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Source, Size &amp; Dataset Justification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0915" y="1362456"/>
            <a:ext cx="2606040" cy="10972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 w="6350">
            <a:solidFill>
              <a:srgbClr val="046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5" y="1453896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46C4E"/>
                </a:solidFill>
                <a:latin typeface="Calibri"/>
              </a:rPr>
              <a:t>2,52,500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5" y="2020824"/>
            <a:ext cx="2057400" cy="18288"/>
          </a:xfrm>
          <a:prstGeom prst="rect">
            <a:avLst/>
          </a:prstGeom>
          <a:solidFill>
            <a:srgbClr val="9C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" y="21122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9C"/>
                </a:solidFill>
                <a:latin typeface="Calibri"/>
              </a:rPr>
              <a:t>Raw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1275" y="1362456"/>
            <a:ext cx="2606040" cy="10972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 w="6350">
            <a:solidFill>
              <a:srgbClr val="046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1275" y="1453896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46C4E"/>
                </a:solidFill>
                <a:latin typeface="Calibri"/>
              </a:rPr>
              <a:t>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25595" y="2020824"/>
            <a:ext cx="2057400" cy="18288"/>
          </a:xfrm>
          <a:prstGeom prst="rect">
            <a:avLst/>
          </a:prstGeom>
          <a:solidFill>
            <a:srgbClr val="9C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1275" y="21122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9C"/>
                </a:solidFill>
                <a:latin typeface="Calibri"/>
              </a:rPr>
              <a:t>Feature 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362456"/>
            <a:ext cx="2606040" cy="10972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 w="6350">
            <a:solidFill>
              <a:srgbClr val="046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1636" y="1453896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46C4E"/>
                </a:solidFill>
                <a:latin typeface="Calibri"/>
              </a:rPr>
              <a:t>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5955" y="2020824"/>
            <a:ext cx="2057400" cy="18288"/>
          </a:xfrm>
          <a:prstGeom prst="rect">
            <a:avLst/>
          </a:prstGeom>
          <a:solidFill>
            <a:srgbClr val="9C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1636" y="21122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9C"/>
                </a:solidFill>
                <a:latin typeface="Calibri"/>
              </a:rPr>
              <a:t>File Format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1996" y="1362456"/>
            <a:ext cx="2606040" cy="10972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 w="6350">
            <a:solidFill>
              <a:srgbClr val="046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11996" y="1453896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46C4E"/>
                </a:solidFill>
                <a:latin typeface="Calibri"/>
              </a:rPr>
              <a:t>~30 MB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86316" y="2020824"/>
            <a:ext cx="2057400" cy="18288"/>
          </a:xfrm>
          <a:prstGeom prst="rect">
            <a:avLst/>
          </a:prstGeom>
          <a:solidFill>
            <a:srgbClr val="9C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11996" y="21122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9C"/>
                </a:solidFill>
                <a:latin typeface="Calibri"/>
              </a:rPr>
              <a:t>File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2688336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DATASET SOURCE &amp; JUSTIFICATION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081528"/>
            <a:ext cx="1152144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20040" y="3209544"/>
            <a:ext cx="5760720" cy="8229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3209544"/>
            <a:ext cx="64008" cy="8229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2826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46C4E"/>
                </a:solidFill>
                <a:latin typeface="Calibri"/>
              </a:rPr>
              <a:t>Synthetic 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3282696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Designed to simulate real-world Indian UPI payment data — ideal for academic analysis without privacy concerns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7" y="3209544"/>
            <a:ext cx="5760720" cy="8229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81927" y="3209544"/>
            <a:ext cx="64008" cy="8229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807" y="32826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46C4E"/>
                </a:solidFill>
                <a:latin typeface="Calibri"/>
              </a:rPr>
              <a:t>Coverage Period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59" y="3282696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Full calendar year: January 2024 – December 2024 (12 months)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4197096"/>
            <a:ext cx="5760720" cy="8229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0040" y="4197096"/>
            <a:ext cx="64008" cy="8229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42702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46C4E"/>
                </a:solidFill>
                <a:latin typeface="Calibri"/>
              </a:rPr>
              <a:t>Transaction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4270248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Covers P2P, P2M, Recharge, Bill Payment — all major UPI transaction types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1927" y="4197096"/>
            <a:ext cx="5760720" cy="8229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81927" y="4197096"/>
            <a:ext cx="64008" cy="8229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64807" y="42702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46C4E"/>
                </a:solidFill>
                <a:latin typeface="Calibri"/>
              </a:rPr>
              <a:t>Geographic Span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59" y="4270248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10 Indian states, 8 major banks, multiple merchant categories, 3 device types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5184648"/>
            <a:ext cx="5760720" cy="8229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" y="5184648"/>
            <a:ext cx="64008" cy="8229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5257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46C4E"/>
                </a:solidFill>
                <a:latin typeface="Calibri"/>
              </a:rPr>
              <a:t>Rich Features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52578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Includes fraud_flag, failure/success status, timestamp, network type — ideal for multi-dimensional EDA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81927" y="5184648"/>
            <a:ext cx="5760720" cy="8229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81927" y="5184648"/>
            <a:ext cx="64008" cy="8229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64807" y="5257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46C4E"/>
                </a:solidFill>
                <a:latin typeface="Calibri"/>
              </a:rPr>
              <a:t>Scale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59" y="52578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2,52,500 records — exceeds 25,000-row guideline by 10× — ensures statistically robust findings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0040" y="6172200"/>
            <a:ext cx="5760720" cy="8229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" y="6172200"/>
            <a:ext cx="64008" cy="8229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62453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46C4E"/>
                </a:solidFill>
                <a:latin typeface="Calibri"/>
              </a:rPr>
              <a:t>Why Selected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6245352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Mirrors real transaction complexity without any Personally Identifiable Information (PII)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Structure, Types &amp; Key Categorical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62456"/>
            <a:ext cx="5486400" cy="539496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DATASET 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9384"/>
            <a:ext cx="5029200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093976"/>
            <a:ext cx="5029200" cy="18288"/>
          </a:xfrm>
          <a:prstGeom prst="rect">
            <a:avLst/>
          </a:prstGeom>
          <a:solidFill>
            <a:srgbClr val="2C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Total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14884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2,52,500 raw  →  2,50,000 after cleaning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79776"/>
            <a:ext cx="5029200" cy="18288"/>
          </a:xfrm>
          <a:prstGeom prst="rect">
            <a:avLst/>
          </a:prstGeom>
          <a:solidFill>
            <a:srgbClr val="2C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Total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83464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17 columns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65576"/>
            <a:ext cx="5029200" cy="18288"/>
          </a:xfrm>
          <a:prstGeom prst="rect">
            <a:avLst/>
          </a:prstGeom>
          <a:solidFill>
            <a:srgbClr val="2C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52044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Numerical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52044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amount (INR), hour_of_day, fraud_flag, is_weekend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51376"/>
            <a:ext cx="5029200" cy="18288"/>
          </a:xfrm>
          <a:prstGeom prst="rect">
            <a:avLst/>
          </a:prstGeom>
          <a:solidFill>
            <a:srgbClr val="2C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Categorical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20624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transaction type, status, age groups, state, banks,
device, network, day_of_week (10 columns)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37176"/>
            <a:ext cx="5029200" cy="18288"/>
          </a:xfrm>
          <a:prstGeom prst="rect">
            <a:avLst/>
          </a:prstGeom>
          <a:solidFill>
            <a:srgbClr val="2C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89204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Datetime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89204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timestamp → converted to datetime format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522976"/>
            <a:ext cx="5029200" cy="18288"/>
          </a:xfrm>
          <a:prstGeom prst="rect">
            <a:avLst/>
          </a:prstGeom>
          <a:solidFill>
            <a:srgbClr val="2C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57784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Target / Label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57784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transaction_status (SUCCESS / FAILED)
fraud_flag (0 = legit, 1 = fraud)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208776"/>
            <a:ext cx="5029200" cy="18288"/>
          </a:xfrm>
          <a:prstGeom prst="rect">
            <a:avLst/>
          </a:prstGeom>
          <a:solidFill>
            <a:srgbClr val="2C3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626364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Time Period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626364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January 2024 – December 2024 (full year)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8192" y="1362456"/>
            <a:ext cx="5760720" cy="539496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91072" y="15270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KEY CATEGORICAL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91072" y="1929384"/>
            <a:ext cx="5212080" cy="3657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172200" y="2093976"/>
            <a:ext cx="5596128" cy="56692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2200" y="2093976"/>
            <a:ext cx="64008" cy="56692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64224" y="214884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Transaction Types (4)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P2P · P2M · Recharge · Bill Payment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724912"/>
            <a:ext cx="5596128" cy="56692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72200" y="2724912"/>
            <a:ext cx="64008" cy="56692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64224" y="277977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Transaction Status (2)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27797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SUCCESS 95.2%  ·  FAILED 4.8%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355848"/>
            <a:ext cx="5596128" cy="56692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72200" y="3355848"/>
            <a:ext cx="64008" cy="56692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64224" y="341071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Merchant Categories (10)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34107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Grocery · Shopping · Entertainment · Transport
Fuel · Education · Food · Healthcare · Recharge · Other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3986783"/>
            <a:ext cx="5596128" cy="56692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72200" y="3986783"/>
            <a:ext cx="64008" cy="56692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64224" y="4041647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Sender States (10)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4041647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Maharashtra · Delhi · Karnataka · UP · Tamil Nadu
Gujarat · West Bengal · Telangana · Rajasthan · Kerala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4617719"/>
            <a:ext cx="5596128" cy="56692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72200" y="4617719"/>
            <a:ext cx="64008" cy="56692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64224" y="4672583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Banks (8)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4672583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SBI · HDFC · ICICI · Axis · PNB · Kotak · Yes Bank · IndusInd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5248655"/>
            <a:ext cx="5596128" cy="56692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72200" y="5248655"/>
            <a:ext cx="64008" cy="56692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64224" y="5303519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Device Types (3)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530351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Android 75.1%  ·  iOS 18.3%  ·  Other 6.6%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2200" y="5879591"/>
            <a:ext cx="5596128" cy="56692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72200" y="5879591"/>
            <a:ext cx="64008" cy="56692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64224" y="5934455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Network Types (4)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5934455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4G 60%  ·  WiFi 25%  ·  5G 10%  ·  3G 5%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72200" y="6510527"/>
            <a:ext cx="5596128" cy="56692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172200" y="6510527"/>
            <a:ext cx="64008" cy="56692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64224" y="6565391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46C4E"/>
                </a:solidFill>
                <a:latin typeface="Calibri"/>
              </a:rPr>
              <a:t>Age Groups (5)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656539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18-25  ·  26-35  ·  36-45  ·  46-55  ·  56+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All 17 Columns Explained in Simple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6245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62456"/>
            <a:ext cx="64008" cy="6400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538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6C4E"/>
                </a:solidFill>
                <a:latin typeface="Calibri"/>
              </a:rPr>
              <a:t>transaction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49961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Unique ID for every transaction  (e.g. TXN0000000001)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136245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73952" y="1362456"/>
            <a:ext cx="64008" cy="64008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6832" y="14538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timestamp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149961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Date &amp; time of the transaction  (YYYY-MM-DD HH:MM:SS)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09397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093976"/>
            <a:ext cx="64008" cy="6400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1854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6C4E"/>
                </a:solidFill>
                <a:latin typeface="Calibri"/>
              </a:rPr>
              <a:t>transaction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23113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How money moved: P2P / P2M / Recharge / Bill 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09397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73952" y="2093976"/>
            <a:ext cx="64008" cy="64008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6832" y="21854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merchant_category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223113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Category of merchant involved  (Grocery, Shopping …)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282549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825496"/>
            <a:ext cx="64008" cy="6400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29169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6C4E"/>
                </a:solidFill>
                <a:latin typeface="Calibri"/>
              </a:rPr>
              <a:t>amount (INR)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296265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Transaction amount in Indian Rupees  (₹10 – ₹42,099)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3952" y="282549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73952" y="2825496"/>
            <a:ext cx="64008" cy="64008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6832" y="29169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transaction_status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296265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Outcome: SUCCESS or FAILED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3557015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557015"/>
            <a:ext cx="64008" cy="6400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6484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6C4E"/>
                </a:solidFill>
                <a:latin typeface="Calibri"/>
              </a:rPr>
              <a:t>sender_age_group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369417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Age bracket of the sender  (18-25 / 26-35 / 36-45 / 46-55 / 56+)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73952" y="3557015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73952" y="3557015"/>
            <a:ext cx="64008" cy="64008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56832" y="36484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receiver_age_group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1352" y="369417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Age bracket of the receiver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428853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4288536"/>
            <a:ext cx="64008" cy="6400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437997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6C4E"/>
                </a:solidFill>
                <a:latin typeface="Calibri"/>
              </a:rPr>
              <a:t>sender_state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42569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Indian state from which the transaction originated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73952" y="428853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73952" y="4288536"/>
            <a:ext cx="64008" cy="64008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56832" y="437997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sender_bank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31352" y="442569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Bank used by the sender  (SBI, HDFC, ICICI …)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" y="5020055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0040" y="5020055"/>
            <a:ext cx="64008" cy="6400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511149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6C4E"/>
                </a:solidFill>
                <a:latin typeface="Calibri"/>
              </a:rPr>
              <a:t>receiver_bank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515721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Bank used by the receiver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73952" y="5020055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73952" y="5020055"/>
            <a:ext cx="64008" cy="64008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56832" y="511149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device_type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31352" y="515721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Device used: Android / iOS / Other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" y="575157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20040" y="5751576"/>
            <a:ext cx="64008" cy="6400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2920" y="58430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6C4E"/>
                </a:solidFill>
                <a:latin typeface="Calibri"/>
              </a:rPr>
              <a:t>network_type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77440" y="588873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Internet connection: 4G / 5G / WiFi / 3G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73952" y="575157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473952" y="5751576"/>
            <a:ext cx="64008" cy="64008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656832" y="58430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fraud_flag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31352" y="588873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0 = Legitimate transaction,  1 = Suspected Fraud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0040" y="648309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20040" y="6483096"/>
            <a:ext cx="64008" cy="6400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2920" y="65745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6C4E"/>
                </a:solidFill>
                <a:latin typeface="Calibri"/>
              </a:rPr>
              <a:t>hour_of_day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77440" y="662025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Hour when the transaction happened  (0 – 23)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73952" y="648309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473952" y="6483096"/>
            <a:ext cx="64008" cy="64008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656832" y="65745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day_of_week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31352" y="6620256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Day name  (Monday … Sunday)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0040" y="7214616"/>
            <a:ext cx="5742432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20040" y="7214616"/>
            <a:ext cx="64008" cy="6400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2920" y="730605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6C4E"/>
                </a:solidFill>
                <a:latin typeface="Calibri"/>
              </a:rPr>
              <a:t>is_weekend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77440" y="7351775"/>
            <a:ext cx="3593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1 = Weekend (Sat/Sun),  0 = Weekday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Data Types · Missing Values · Statistics · Initial Observations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80744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DATA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46504"/>
            <a:ext cx="3611880" cy="3657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60520" y="1380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MISSING VALUES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746504"/>
            <a:ext cx="3657600" cy="3657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138074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STATISTICAL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1" y="1746504"/>
            <a:ext cx="3840480" cy="3657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0040" y="1892808"/>
            <a:ext cx="3611880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892808"/>
            <a:ext cx="64008" cy="64008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9842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object / 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7685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9C"/>
                </a:solidFill>
                <a:latin typeface="Calibri"/>
              </a:rPr>
              <a:t>13 columns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642616"/>
            <a:ext cx="3611880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642616"/>
            <a:ext cx="64008" cy="6400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7340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46C4E"/>
                </a:solidFill>
                <a:latin typeface="Calibri"/>
              </a:rPr>
              <a:t>float64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02666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9C"/>
                </a:solidFill>
                <a:latin typeface="Calibri"/>
              </a:rPr>
              <a:t>1 column  (amount)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3392424"/>
            <a:ext cx="3611880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392424"/>
            <a:ext cx="64008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4838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int64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7647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9C"/>
                </a:solidFill>
                <a:latin typeface="Calibri"/>
              </a:rPr>
              <a:t>3 columns  (hour, fraud_flag, is_weekend)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1892808"/>
            <a:ext cx="3657600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15968" y="200253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22"/>
                </a:solidFill>
                <a:latin typeface="Calibri"/>
              </a:rPr>
              <a:t>merchant_category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148840"/>
            <a:ext cx="1175657" cy="20116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66729" y="21488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46C4E"/>
                </a:solidFill>
                <a:latin typeface="Calibri"/>
              </a:rPr>
              <a:t>3.0%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2642616"/>
            <a:ext cx="3657600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15968" y="275234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22"/>
                </a:solidFill>
                <a:latin typeface="Calibri"/>
              </a:rPr>
              <a:t>sender_bank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898648"/>
            <a:ext cx="783771" cy="20116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74843" y="28986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46C4E"/>
                </a:solidFill>
                <a:latin typeface="Calibri"/>
              </a:rPr>
              <a:t>2.0%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3392424"/>
            <a:ext cx="3657600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15968" y="3502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22"/>
                </a:solidFill>
                <a:latin typeface="Calibri"/>
              </a:rPr>
              <a:t>receiver_bank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648456"/>
            <a:ext cx="783771" cy="20116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74843" y="364845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46C4E"/>
                </a:solidFill>
                <a:latin typeface="Calibri"/>
              </a:rPr>
              <a:t>2.0%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4142232"/>
            <a:ext cx="3657600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15968" y="425196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22"/>
                </a:solidFill>
                <a:latin typeface="Calibri"/>
              </a:rPr>
              <a:t>network_type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398264"/>
            <a:ext cx="587828" cy="20116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78900" y="43982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46C4E"/>
                </a:solidFill>
                <a:latin typeface="Calibri"/>
              </a:rPr>
              <a:t>1.5%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60520" y="4892040"/>
            <a:ext cx="3657600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15968" y="500176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22"/>
                </a:solidFill>
                <a:latin typeface="Calibri"/>
              </a:rPr>
              <a:t>amount (INR)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5148072"/>
            <a:ext cx="391885" cy="20116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82957" y="514807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46C4E"/>
                </a:solidFill>
                <a:latin typeface="Calibri"/>
              </a:rPr>
              <a:t>1.0%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60520" y="5641848"/>
            <a:ext cx="3657600" cy="6400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15968" y="575157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22"/>
                </a:solidFill>
                <a:latin typeface="Calibri"/>
              </a:rPr>
              <a:t>device_type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5897880"/>
            <a:ext cx="391885" cy="20116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82957" y="58978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46C4E"/>
                </a:solidFill>
                <a:latin typeface="Calibri"/>
              </a:rPr>
              <a:t>1.0%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28431" y="1892808"/>
            <a:ext cx="3840480" cy="530352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83879" y="19842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Mean Amount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19842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46C4E"/>
                </a:solidFill>
                <a:latin typeface="Calibri"/>
              </a:rPr>
              <a:t>₹1,312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8431" y="2487168"/>
            <a:ext cx="3840480" cy="5303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83879" y="25786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Median Amount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25786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46C4E"/>
                </a:solidFill>
                <a:latin typeface="Calibri"/>
              </a:rPr>
              <a:t>₹629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28431" y="3081528"/>
            <a:ext cx="3840480" cy="530352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183879" y="3172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Max Amount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3172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46C4E"/>
                </a:solidFill>
                <a:latin typeface="Calibri"/>
              </a:rPr>
              <a:t>₹42,099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28431" y="3675888"/>
            <a:ext cx="3840480" cy="5303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183879" y="37673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Min Amount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66960" y="37673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46C4E"/>
                </a:solidFill>
                <a:latin typeface="Calibri"/>
              </a:rPr>
              <a:t>₹10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28431" y="4270248"/>
            <a:ext cx="3840480" cy="530352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183879" y="4361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Std Deviation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4361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46C4E"/>
                </a:solidFill>
                <a:latin typeface="Calibri"/>
              </a:rPr>
              <a:t>₹1,849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28431" y="4864608"/>
            <a:ext cx="3840480" cy="5303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183879" y="49560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Fraud Rate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66960" y="49560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46C4E"/>
                </a:solidFill>
                <a:latin typeface="Calibri"/>
              </a:rPr>
              <a:t>0.19%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28431" y="5458968"/>
            <a:ext cx="3840480" cy="530352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183879" y="55504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Avg Hour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60" y="55504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46C4E"/>
                </a:solidFill>
                <a:latin typeface="Calibri"/>
              </a:rPr>
              <a:t>14.68  (≈ 3 PM)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28431" y="6053328"/>
            <a:ext cx="3840480" cy="5303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183879" y="61447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Weekend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6960" y="6144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46C4E"/>
                </a:solidFill>
                <a:latin typeface="Calibri"/>
              </a:rPr>
              <a:t>28.5%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6409944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INITIAL OBSERVATIONS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6757416"/>
            <a:ext cx="1152144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20040" y="6885431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  ›  No single column exceeds 3% missing — overall data quality is very good.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79392" y="6885431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  ›  P2P is the most common transaction type (45.1%); SUCCESS rate is very high at 95.2%.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38744" y="6885431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3A"/>
                </a:solidFill>
                <a:latin typeface="Calibri"/>
              </a:rPr>
              <a:t>  ›  Most amounts are small (median ₹629); a few large outliers push the mean to ₹1,312.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Cleaning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Six-Step Data Quality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80744"/>
            <a:ext cx="5742432" cy="17556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80744"/>
            <a:ext cx="64008" cy="17556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1207" y="1892808"/>
            <a:ext cx="411480" cy="4114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7" y="1892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51790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Missing Value Treatment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4767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Numerical: filled with median  ·  Categorical: filled with mode
Treated: amount, merchant_category, sender_bank, receiver_bank, device_type, network_type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380744"/>
            <a:ext cx="5742432" cy="17556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59" y="1380744"/>
            <a:ext cx="64008" cy="17556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10527" y="1892808"/>
            <a:ext cx="411480" cy="41148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7" y="1892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599" y="151790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Duplicate Removal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599" y="194767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Found 2,500 duplicate rows (1% of dataset)  ·  All duplicates removed
Final dataset: 2,50,000 clean rows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300984"/>
            <a:ext cx="5742432" cy="17556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300984"/>
            <a:ext cx="64008" cy="17556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1207" y="3813048"/>
            <a:ext cx="411480" cy="4114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7" y="3813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43814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Data Type Conversion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86791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timestamp column converted from object (string) → datetime format
Enables time-based grouping by hour, day, month, quarter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300984"/>
            <a:ext cx="5742432" cy="17556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59" y="3300984"/>
            <a:ext cx="64008" cy="17556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10527" y="3813048"/>
            <a:ext cx="411480" cy="41148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7" y="3813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599" y="343814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Outlier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386791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Used IQR method to detect amount outliers  ·  Found very high values
Retained outliers — they represent real large transfers (education, rent)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5221224"/>
            <a:ext cx="5742432" cy="17556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5221224"/>
            <a:ext cx="64008" cy="17556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21207" y="5733288"/>
            <a:ext cx="411480" cy="41148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7" y="5733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35838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Feature Engineering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78815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Extracted: hour_of_day, day_of_week, is_weekend from timestamp
Also derived month &amp; quarter columns for temporal trend analysis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5221224"/>
            <a:ext cx="5742432" cy="17556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59" y="5221224"/>
            <a:ext cx="64008" cy="17556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10527" y="5733288"/>
            <a:ext cx="4114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10527" y="5733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599" y="535838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C2B22"/>
                </a:solidFill>
                <a:latin typeface="Calibri"/>
              </a:rPr>
              <a:t>Final Clean Dataset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599" y="578815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Exported as upi_dataset_clean.csv  ·  2,50,000 rows × 17 columns
Zero missing values · No duplicates · Correct data types throughout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Exploratory Data Analysis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Summarising, Visualising &amp; Understanding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62456"/>
            <a:ext cx="11521440" cy="987552"/>
          </a:xfrm>
          <a:prstGeom prst="roundRect">
            <a:avLst>
              <a:gd name="adj" fmla="val 20000"/>
            </a:avLst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62456"/>
            <a:ext cx="73152" cy="9875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72184"/>
            <a:ext cx="11155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EDA is the process of summarising, visualising and understanding a dataset before applying any model or drawing conclusions. It helps identify patterns, anomalies and relationships within the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5117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WHY EDA IS 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55117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METHODS USED IN THIS PROJECT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935224"/>
            <a:ext cx="1152144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0040" y="3081528"/>
            <a:ext cx="5577840" cy="60350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3081528"/>
            <a:ext cx="64008" cy="60350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17296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Reveals the true structure and quality of raw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813048"/>
            <a:ext cx="5577840" cy="60350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3813048"/>
            <a:ext cx="64008" cy="60350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90448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Catches missing values, outliers, and anomalies early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544568"/>
            <a:ext cx="5577840" cy="60350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4544568"/>
            <a:ext cx="64008" cy="60350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63600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Guides feature selection for machine learning models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276088"/>
            <a:ext cx="5577840" cy="60350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5276088"/>
            <a:ext cx="64008" cy="60350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536752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Builds intuition before advanced statistical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6007608"/>
            <a:ext cx="5577840" cy="60350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6007608"/>
            <a:ext cx="64008" cy="60350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09904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Turns raw numbers into meaningful business stories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081528"/>
            <a:ext cx="5577840" cy="60350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3081528"/>
            <a:ext cx="64008" cy="60350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17296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Distribution analysis (histograms, box plots)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813048"/>
            <a:ext cx="5577840" cy="60350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3813048"/>
            <a:ext cx="64008" cy="60350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90448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Univariate &amp; bivariate categorical analysis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544568"/>
            <a:ext cx="5577840" cy="60350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4544568"/>
            <a:ext cx="64008" cy="60350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463600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Time-series trend analysis (hourly, daily, monthly)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276088"/>
            <a:ext cx="5577840" cy="60350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5276088"/>
            <a:ext cx="64008" cy="60350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536752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Correlation analysis &amp; cross-tabulation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6007608"/>
            <a:ext cx="5577840" cy="60350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63640" y="6007608"/>
            <a:ext cx="64008" cy="60350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6099048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Fraud &amp; failure rate analysis by category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6867144"/>
            <a:ext cx="11521440" cy="713232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6867144"/>
            <a:ext cx="64008" cy="71323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6958584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46C4E"/>
                </a:solidFill>
                <a:latin typeface="Calibri"/>
              </a:rPr>
              <a:t>Key EDA Observations:  P2P dominates (45%)  ·  Grocery is top merchant  ·  Peak = 2–5 PM  ·  SBI leads volume  ·  Android 75%  ·  Fraud &lt; 0.2%  ·  Maharashtra tops states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Questions Answered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20 Real-World Questions Explored through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80744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80744"/>
            <a:ext cx="64008" cy="98755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4632" y="1673352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6733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1472184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What is the distribution of transaction amounts?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496312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496312"/>
            <a:ext cx="64008" cy="98755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" y="2788920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" y="2788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" y="2587752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What % of transactions are successful vs failed?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11880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3611880"/>
            <a:ext cx="64008" cy="98755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4632" y="3904488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3904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7" y="3703320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Which transaction type has the highest volume?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727448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4727448"/>
            <a:ext cx="64008" cy="98755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4632" y="5020056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50200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818888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Which merchant category gets the most transactions?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5843016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5843016"/>
            <a:ext cx="64008" cy="98755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84632" y="6135624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" y="61356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7" y="5934455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What is the average transaction amount by type?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1380744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91840" y="1380744"/>
            <a:ext cx="64008" cy="98755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56432" y="1673352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56432" y="16733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50208" y="1472184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Which month has the highest transaction volume?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2496312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91840" y="2496312"/>
            <a:ext cx="64008" cy="98755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456432" y="2788920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56432" y="2788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0208" y="2587752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Which day of week has the highest transaction volume?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0" y="3611880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91840" y="3611880"/>
            <a:ext cx="64008" cy="98755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456432" y="3904488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56432" y="3904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0208" y="3703320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Is there a relation between amount and hour of day?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1840" y="4727448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91840" y="4727448"/>
            <a:ext cx="64008" cy="98755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456432" y="5020056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56432" y="50200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50208" y="4818888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Which age group does the most transactions?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1840" y="5843016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291840" y="5843016"/>
            <a:ext cx="64008" cy="98755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456432" y="6135624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456432" y="61356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50208" y="5934455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What device do most senders use?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3640" y="1380744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263640" y="1380744"/>
            <a:ext cx="64008" cy="98755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428231" y="1673352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28231" y="16733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22007" y="1472184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Which network type is used the most?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63640" y="2496312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263640" y="2496312"/>
            <a:ext cx="64008" cy="98755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428231" y="2788920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28231" y="2788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22007" y="2587752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Which bank handles the most transactions?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3611880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263640" y="3611880"/>
            <a:ext cx="64008" cy="98755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428231" y="3904488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28231" y="3904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22007" y="3703320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What is the failure rate by transaction type?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4727448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263640" y="4727448"/>
            <a:ext cx="64008" cy="98755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428231" y="5020056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28231" y="50200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22007" y="4818888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What is the failure rate by bank?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63640" y="5843016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263640" y="5843016"/>
            <a:ext cx="64008" cy="98755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428231" y="6135624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28231" y="61356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22007" y="5934455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What is the transaction volume by state?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235440" y="1380744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235440" y="1380744"/>
            <a:ext cx="64008" cy="98755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400032" y="1673352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400032" y="16733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93808" y="1472184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Is there more fraud on weekends or weekdays?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235440" y="2496312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235440" y="2496312"/>
            <a:ext cx="64008" cy="98755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400032" y="2788920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400032" y="2788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893808" y="2587752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Which hour has the highest fraud rate?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235440" y="3611880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9235440" y="3611880"/>
            <a:ext cx="64008" cy="98755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9400032" y="3904488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400032" y="3904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893808" y="3703320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Which merchant category has the most fraud?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235440" y="4727448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9235440" y="4727448"/>
            <a:ext cx="64008" cy="98755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9400032" y="5020056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400032" y="50200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Q19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93808" y="4818888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What is the failure rate by state?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235440" y="5843016"/>
            <a:ext cx="2807208" cy="98755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9235440" y="5843016"/>
            <a:ext cx="64008" cy="98755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9400032" y="6135624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400032" y="61356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Q20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93808" y="5934455"/>
            <a:ext cx="20756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What is the quarterly trend of total transaction value?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Visualization — Charts 1 &amp;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Transaction Amount Distribution  ·  Volume by Transaction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62456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CHART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82496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B22"/>
                </a:solidFill>
                <a:latin typeface="Calibri"/>
              </a:rPr>
              <a:t>Transaction Amount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39696"/>
            <a:ext cx="5715000" cy="3657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2602382"/>
            <a:ext cx="868680" cy="2253081"/>
          </a:xfrm>
          <a:prstGeom prst="roundRect">
            <a:avLst>
              <a:gd name="adj" fmla="val 20000"/>
            </a:avLst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49286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9C"/>
                </a:solidFill>
                <a:latin typeface="Calibri"/>
              </a:rPr>
              <a:t>₹0–500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7553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39" y="3370478"/>
            <a:ext cx="868680" cy="1484985"/>
          </a:xfrm>
          <a:prstGeom prst="roundRect">
            <a:avLst>
              <a:gd name="adj" fmla="val 20000"/>
            </a:avLst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39" y="49286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9C"/>
                </a:solidFill>
                <a:latin typeface="Calibri"/>
              </a:rPr>
              <a:t>₹500–1K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4363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4138574"/>
            <a:ext cx="868680" cy="716889"/>
          </a:xfrm>
          <a:prstGeom prst="roundRect">
            <a:avLst>
              <a:gd name="adj" fmla="val 20000"/>
            </a:avLst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49286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9C"/>
                </a:solidFill>
                <a:latin typeface="Calibri"/>
              </a:rPr>
              <a:t>₹1K–2K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21172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471416"/>
            <a:ext cx="868680" cy="384048"/>
          </a:xfrm>
          <a:prstGeom prst="roundRect">
            <a:avLst>
              <a:gd name="adj" fmla="val 20000"/>
            </a:avLst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49286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9C"/>
                </a:solidFill>
                <a:latin typeface="Calibri"/>
              </a:rPr>
              <a:t>₹2K–5K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544568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4676241"/>
            <a:ext cx="868680" cy="179222"/>
          </a:xfrm>
          <a:prstGeom prst="roundRect">
            <a:avLst>
              <a:gd name="adj" fmla="val 20000"/>
            </a:avLst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4928615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9C"/>
                </a:solidFill>
                <a:latin typeface="Calibri"/>
              </a:rPr>
              <a:t>₹5K+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749393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5065776"/>
            <a:ext cx="140817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5065776"/>
            <a:ext cx="1408176" cy="4572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79" y="515721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22"/>
                </a:solidFill>
                <a:latin typeface="Calibri"/>
              </a:rPr>
              <a:t>Purpose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5449824"/>
            <a:ext cx="1225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Understand transaction size distribution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55648" y="5065776"/>
            <a:ext cx="140817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755648" y="5065776"/>
            <a:ext cx="1408176" cy="4572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47088" y="515721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Observation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47088" y="5449824"/>
            <a:ext cx="1225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Right-skewed; most transactions are below ₹1,000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91256" y="5065776"/>
            <a:ext cx="140817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91256" y="5065776"/>
            <a:ext cx="1408176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82696" y="515721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Business Insight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82696" y="5449824"/>
            <a:ext cx="1225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UPI is primarily used for small daily purchases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26864" y="5065776"/>
            <a:ext cx="140817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26864" y="5065776"/>
            <a:ext cx="1408176" cy="45720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18303" y="515721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946A"/>
                </a:solidFill>
                <a:latin typeface="Calibri"/>
              </a:rPr>
              <a:t>Recommendation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18303" y="5449824"/>
            <a:ext cx="1225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Optimise platform for high-frequency small-amount txns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136245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CHART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16824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B22"/>
                </a:solidFill>
                <a:latin typeface="Calibri"/>
              </a:rPr>
              <a:t>Volume by Transaction Type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139696"/>
            <a:ext cx="5486400" cy="3657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446520" y="3703320"/>
            <a:ext cx="1005840" cy="1152144"/>
          </a:xfrm>
          <a:prstGeom prst="roundRect">
            <a:avLst>
              <a:gd name="adj" fmla="val 20000"/>
            </a:avLst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46520" y="49286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9C"/>
                </a:solidFill>
                <a:latin typeface="Calibri"/>
              </a:rPr>
              <a:t>P2P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59" y="379475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44968" y="4087368"/>
            <a:ext cx="1005840" cy="768096"/>
          </a:xfrm>
          <a:prstGeom prst="roundRect">
            <a:avLst>
              <a:gd name="adj" fmla="val 20000"/>
            </a:avLst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44968" y="49286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9C"/>
                </a:solidFill>
                <a:latin typeface="Calibri"/>
              </a:rPr>
              <a:t>P2M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36408" y="4178807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43416" y="4471416"/>
            <a:ext cx="1005840" cy="384048"/>
          </a:xfrm>
          <a:prstGeom prst="roundRect">
            <a:avLst>
              <a:gd name="adj" fmla="val 20000"/>
            </a:avLst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43416" y="49286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9C"/>
                </a:solidFill>
                <a:latin typeface="Calibri"/>
              </a:rPr>
              <a:t>Recharge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34856" y="456285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41864" y="4599431"/>
            <a:ext cx="1005840" cy="256031"/>
          </a:xfrm>
          <a:prstGeom prst="roundRect">
            <a:avLst>
              <a:gd name="adj" fmla="val 20000"/>
            </a:avLst>
          </a:prstGeom>
          <a:solidFill>
            <a:srgbClr val="9C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341864" y="49286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9C"/>
                </a:solidFill>
                <a:latin typeface="Calibri"/>
              </a:rPr>
              <a:t>Bill Pay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33304" y="4690871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5080" y="5065776"/>
            <a:ext cx="135102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355080" y="5065776"/>
            <a:ext cx="1351026" cy="4572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46520" y="5157216"/>
            <a:ext cx="11681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22"/>
                </a:solidFill>
                <a:latin typeface="Calibri"/>
              </a:rPr>
              <a:t>Purpose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5449824"/>
            <a:ext cx="116814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Identify the most popular type of UPI transaction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33538" y="5065776"/>
            <a:ext cx="135102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733538" y="5065776"/>
            <a:ext cx="1351026" cy="4572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24977" y="5157216"/>
            <a:ext cx="11681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Observation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24977" y="5449824"/>
            <a:ext cx="116814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P2P is dominant with 45% share; P2M at 30%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11996" y="5065776"/>
            <a:ext cx="135102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11996" y="5065776"/>
            <a:ext cx="1351026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03436" y="5157216"/>
            <a:ext cx="11681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Business Insight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03436" y="5449824"/>
            <a:ext cx="116814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People mainly send money to friends &amp; family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490454" y="5065776"/>
            <a:ext cx="135102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490454" y="5065776"/>
            <a:ext cx="1351026" cy="45720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581894" y="5157216"/>
            <a:ext cx="11681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946A"/>
                </a:solidFill>
                <a:latin typeface="Calibri"/>
              </a:rPr>
              <a:t>Recommendation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81894" y="5449824"/>
            <a:ext cx="116814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Focus on P2M features to grow merchant payments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Visualization — Charts 3 &amp;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Transaction Status Distribution  ·  Hourly Volume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62456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CHART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82496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B22"/>
                </a:solidFill>
                <a:latin typeface="Calibri"/>
              </a:rPr>
              <a:t>Transaction Status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39696"/>
            <a:ext cx="5715000" cy="3657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2350008"/>
            <a:ext cx="4572000" cy="7498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350008"/>
            <a:ext cx="4352544" cy="7498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44144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250545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95.2%  ·  2,38,012 transactions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36976"/>
            <a:ext cx="4572000" cy="74980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" y="3236976"/>
            <a:ext cx="219456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328416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FAILED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339242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4.8%  ·  11,988 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1513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2B22"/>
                </a:solidFill>
                <a:latin typeface="Calibri"/>
              </a:rPr>
              <a:t>Failure Rate by Bank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562856"/>
            <a:ext cx="1645920" cy="621792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6360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PNB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8" y="463600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2626"/>
                </a:solidFill>
                <a:latin typeface="Calibri"/>
              </a:rPr>
              <a:t>5.9%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21992" y="4562856"/>
            <a:ext cx="1645920" cy="62179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13432" y="46360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22"/>
                </a:solidFill>
                <a:latin typeface="Calibri"/>
              </a:rPr>
              <a:t>Yes Bank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63600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2626"/>
                </a:solidFill>
                <a:latin typeface="Calibri"/>
              </a:rPr>
              <a:t>5.7%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32504" y="4562856"/>
            <a:ext cx="1645920" cy="62179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23944" y="46360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22"/>
                </a:solidFill>
                <a:latin typeface="Calibri"/>
              </a:rPr>
              <a:t>HDFC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6632" y="463600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DC2626"/>
                </a:solidFill>
                <a:latin typeface="Calibri"/>
              </a:rPr>
              <a:t>4.5%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5385816"/>
            <a:ext cx="140817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5385816"/>
            <a:ext cx="1408176" cy="4572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79" y="5477255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22"/>
                </a:solidFill>
                <a:latin typeface="Calibri"/>
              </a:rPr>
              <a:t>Purpose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769864"/>
            <a:ext cx="1225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Measure platform reliability &amp; payment success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55648" y="5385816"/>
            <a:ext cx="140817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755648" y="5385816"/>
            <a:ext cx="1408176" cy="4572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47088" y="5477255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Observation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47088" y="5769864"/>
            <a:ext cx="1225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95.2% success; 4.8% failure — PNB has highest rate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91256" y="5385816"/>
            <a:ext cx="140817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191256" y="5385816"/>
            <a:ext cx="1408176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82696" y="5477255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Business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82696" y="5769864"/>
            <a:ext cx="1225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Platform is reliable overall; some banks underperform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26864" y="5385816"/>
            <a:ext cx="140817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626864" y="5385816"/>
            <a:ext cx="1408176" cy="45720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18303" y="5477255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946A"/>
                </a:solidFill>
                <a:latin typeface="Calibri"/>
              </a:rPr>
              <a:t>Recommendation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18303" y="5769864"/>
            <a:ext cx="1225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Investigate PNB &amp; Yes Bank API issues; set SLA targets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136245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CHART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16824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2B22"/>
                </a:solidFill>
                <a:latin typeface="Calibri"/>
              </a:rPr>
              <a:t>Transaction Volume by Hour of Day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2139696"/>
            <a:ext cx="5486400" cy="3657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19088" y="4575657"/>
            <a:ext cx="196596" cy="37124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629400" y="4708245"/>
            <a:ext cx="196596" cy="23865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839712" y="4787798"/>
            <a:ext cx="196596" cy="159105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050024" y="4840833"/>
            <a:ext cx="196596" cy="10607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260336" y="4867351"/>
            <a:ext cx="196596" cy="7955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470648" y="4840833"/>
            <a:ext cx="196596" cy="10607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680960" y="4681727"/>
            <a:ext cx="196596" cy="26517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891272" y="4469587"/>
            <a:ext cx="196596" cy="47731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101584" y="4151375"/>
            <a:ext cx="196596" cy="79552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311896" y="3753611"/>
            <a:ext cx="196596" cy="119329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522208" y="3355848"/>
            <a:ext cx="196596" cy="1591056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732520" y="3037636"/>
            <a:ext cx="196596" cy="1909267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942832" y="2825496"/>
            <a:ext cx="196596" cy="2121408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153144" y="2692908"/>
            <a:ext cx="196596" cy="2253996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363456" y="2560320"/>
            <a:ext cx="196596" cy="23865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573768" y="2507284"/>
            <a:ext cx="196596" cy="243961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784080" y="2613355"/>
            <a:ext cx="196596" cy="2333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994392" y="2772460"/>
            <a:ext cx="196596" cy="217444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204704" y="3090672"/>
            <a:ext cx="196596" cy="1856231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415016" y="3408883"/>
            <a:ext cx="196596" cy="1538020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625328" y="3753611"/>
            <a:ext cx="196596" cy="119329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835640" y="4018787"/>
            <a:ext cx="196596" cy="928115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1045952" y="4283964"/>
            <a:ext cx="196596" cy="66294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1256264" y="4496104"/>
            <a:ext cx="196596" cy="450799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19088" y="49926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9C"/>
                </a:solidFill>
                <a:latin typeface="Calibri"/>
              </a:rPr>
              <a:t>0h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49926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9C"/>
                </a:solidFill>
                <a:latin typeface="Calibri"/>
              </a:rPr>
              <a:t>12h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30000" y="499262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9C"/>
                </a:solidFill>
                <a:latin typeface="Calibri"/>
              </a:rPr>
              <a:t>23h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75520" y="2386584"/>
            <a:ext cx="1828800" cy="5029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921240" y="245973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★ Peak: 2–5 PM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55080" y="5385816"/>
            <a:ext cx="135102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355080" y="5385816"/>
            <a:ext cx="1351026" cy="4572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46520" y="5477255"/>
            <a:ext cx="11681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22"/>
                </a:solidFill>
                <a:latin typeface="Calibri"/>
              </a:rPr>
              <a:t>Purpose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46520" y="5769864"/>
            <a:ext cx="116814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Find peak hours to optimise server infrastructure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733538" y="5385816"/>
            <a:ext cx="135102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7733538" y="5385816"/>
            <a:ext cx="1351026" cy="4572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24977" y="5477255"/>
            <a:ext cx="11681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Observation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24977" y="5769864"/>
            <a:ext cx="116814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Highest activity between 2 PM and 5 PM daily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111996" y="5385816"/>
            <a:ext cx="135102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111996" y="5385816"/>
            <a:ext cx="1351026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203436" y="5477255"/>
            <a:ext cx="11681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Business Insight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03436" y="5769864"/>
            <a:ext cx="116814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Business hours + lunch break drive peak UPI usage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490454" y="5385816"/>
            <a:ext cx="1351026" cy="9601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0490454" y="5385816"/>
            <a:ext cx="1351026" cy="45720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581894" y="5477255"/>
            <a:ext cx="11681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946A"/>
                </a:solidFill>
                <a:latin typeface="Calibri"/>
              </a:rPr>
              <a:t>Recommendation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81894" y="5769864"/>
            <a:ext cx="116814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73A"/>
                </a:solidFill>
                <a:latin typeface="Calibri"/>
              </a:rPr>
              <a:t>Scale capacity 1–6 PM; schedule maintenance at night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Visualization — Charts 5, 6 &amp;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Transaction Volume by State  ·  by Bank  ·  Fraud Rate by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80744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22"/>
                </a:solidFill>
                <a:latin typeface="Calibri"/>
              </a:rPr>
              <a:t>CHART 5  ·  Volume by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73936"/>
            <a:ext cx="3703320" cy="3657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34440" y="1929384"/>
            <a:ext cx="2011680" cy="32004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96596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3A"/>
                </a:solidFill>
                <a:latin typeface="Calibri"/>
              </a:rPr>
              <a:t>Maharashtra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1965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88%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2340864"/>
            <a:ext cx="1714500" cy="32004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" y="237744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3A"/>
                </a:solidFill>
                <a:latin typeface="Calibri"/>
              </a:rPr>
              <a:t>Delhi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6372" y="2377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75%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2752344"/>
            <a:ext cx="1554480" cy="32004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278892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3A"/>
                </a:solidFill>
                <a:latin typeface="Calibri"/>
              </a:rPr>
              <a:t>Karnataka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788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68%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3163824"/>
            <a:ext cx="1371600" cy="32004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" y="320040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3A"/>
                </a:solidFill>
                <a:latin typeface="Calibri"/>
              </a:rPr>
              <a:t>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60%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3575304"/>
            <a:ext cx="1257300" cy="32004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" y="361188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3A"/>
                </a:solidFill>
                <a:latin typeface="Calibri"/>
              </a:rPr>
              <a:t>Tamil Nadu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9172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55%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3986784"/>
            <a:ext cx="1097280" cy="320040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8328" y="402336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3A"/>
                </a:solidFill>
                <a:latin typeface="Calibri"/>
              </a:rPr>
              <a:t>Gujarat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4023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48%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" y="4398264"/>
            <a:ext cx="914400" cy="320040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" y="443484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3A"/>
                </a:solidFill>
                <a:latin typeface="Calibri"/>
              </a:rPr>
              <a:t>West Bengal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4434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40%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4440" y="4809744"/>
            <a:ext cx="800100" cy="320040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" y="484632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3A"/>
                </a:solidFill>
                <a:latin typeface="Calibri"/>
              </a:rPr>
              <a:t>Telangana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61972" y="4846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35%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440" y="5221224"/>
            <a:ext cx="640080" cy="320040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8" y="525780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3A"/>
                </a:solidFill>
                <a:latin typeface="Calibri"/>
              </a:rPr>
              <a:t>Rajasthan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01952" y="5257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28%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34440" y="5632704"/>
            <a:ext cx="502920" cy="320040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8328" y="566928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3A"/>
                </a:solidFill>
                <a:latin typeface="Calibri"/>
              </a:rPr>
              <a:t>Kerala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64792" y="5669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46C4E"/>
                </a:solidFill>
                <a:latin typeface="Calibri"/>
              </a:rPr>
              <a:t>22%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6044184"/>
            <a:ext cx="3703320" cy="38404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61081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6C4E"/>
                </a:solidFill>
                <a:latin typeface="Calibri"/>
              </a:rPr>
              <a:t>🔍 Maharashtra leads; Kerala has the lowest adoption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6483096"/>
            <a:ext cx="3703320" cy="3840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654710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22"/>
                </a:solidFill>
                <a:latin typeface="Calibri"/>
              </a:rPr>
              <a:t>💼 North &amp; West India drive most UPI usage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6922008"/>
            <a:ext cx="3703320" cy="3840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480" y="69860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84C"/>
                </a:solidFill>
                <a:latin typeface="Calibri"/>
              </a:rPr>
              <a:t>✅ Target South India and rural areas for growth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1380744"/>
            <a:ext cx="36576" cy="457200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07408" y="1380744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22"/>
                </a:solidFill>
                <a:latin typeface="Calibri"/>
              </a:rPr>
              <a:t>CHART 6  ·  Volume by Bank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7408" y="1773936"/>
            <a:ext cx="3703320" cy="36576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212080" y="1929384"/>
            <a:ext cx="2051913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25696" y="1993391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3A"/>
                </a:solidFill>
                <a:latin typeface="Calibri"/>
              </a:rPr>
              <a:t>SBI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91425" y="1993391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22"/>
                </a:solidFill>
                <a:latin typeface="Calibri"/>
              </a:rPr>
              <a:t>88%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2080" y="2404872"/>
            <a:ext cx="1748789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25696" y="2468879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3A"/>
                </a:solidFill>
                <a:latin typeface="Calibri"/>
              </a:rPr>
              <a:t>HDFC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88302" y="2468879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22"/>
                </a:solidFill>
                <a:latin typeface="Calibri"/>
              </a:rPr>
              <a:t>75%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2880360"/>
            <a:ext cx="1632203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25696" y="294436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3A"/>
                </a:solidFill>
                <a:latin typeface="Calibri"/>
              </a:rPr>
              <a:t>ICICI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1716" y="294436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22"/>
                </a:solidFill>
                <a:latin typeface="Calibri"/>
              </a:rPr>
              <a:t>70%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12080" y="3355848"/>
            <a:ext cx="1399031" cy="384048"/>
          </a:xfrm>
          <a:prstGeom prst="rect">
            <a:avLst/>
          </a:prstGeom>
          <a:solidFill>
            <a:srgbClr val="3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25696" y="341985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3A"/>
                </a:solidFill>
                <a:latin typeface="Calibri"/>
              </a:rPr>
              <a:t>Axis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38544" y="341985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22"/>
                </a:solidFill>
                <a:latin typeface="Calibri"/>
              </a:rPr>
              <a:t>60%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12080" y="3831335"/>
            <a:ext cx="1165860" cy="384048"/>
          </a:xfrm>
          <a:prstGeom prst="rect">
            <a:avLst/>
          </a:prstGeom>
          <a:solidFill>
            <a:srgbClr val="3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425696" y="3895344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3A"/>
                </a:solidFill>
                <a:latin typeface="Calibri"/>
              </a:rPr>
              <a:t>PNB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5372" y="389534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22"/>
                </a:solidFill>
                <a:latin typeface="Calibri"/>
              </a:rPr>
              <a:t>50%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12080" y="4306823"/>
            <a:ext cx="932688" cy="384048"/>
          </a:xfrm>
          <a:prstGeom prst="rect">
            <a:avLst/>
          </a:prstGeom>
          <a:solidFill>
            <a:srgbClr val="3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425696" y="4370831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3A"/>
                </a:solidFill>
                <a:latin typeface="Calibri"/>
              </a:rPr>
              <a:t>Kotak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4370831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22"/>
                </a:solidFill>
                <a:latin typeface="Calibri"/>
              </a:rPr>
              <a:t>40%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80" y="4782311"/>
            <a:ext cx="652881" cy="384048"/>
          </a:xfrm>
          <a:prstGeom prst="rect">
            <a:avLst/>
          </a:prstGeom>
          <a:solidFill>
            <a:srgbClr val="3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25696" y="4846319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3A"/>
                </a:solidFill>
                <a:latin typeface="Calibri"/>
              </a:rPr>
              <a:t>Yes Bank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92393" y="4846319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22"/>
                </a:solidFill>
                <a:latin typeface="Calibri"/>
              </a:rPr>
              <a:t>28%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2080" y="5257799"/>
            <a:ext cx="466344" cy="384048"/>
          </a:xfrm>
          <a:prstGeom prst="rect">
            <a:avLst/>
          </a:prstGeom>
          <a:solidFill>
            <a:srgbClr val="37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425696" y="5321807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3A"/>
                </a:solidFill>
                <a:latin typeface="Calibri"/>
              </a:rPr>
              <a:t>IndusInd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05856" y="5321807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2B22"/>
                </a:solidFill>
                <a:latin typeface="Calibri"/>
              </a:rPr>
              <a:t>20%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07408" y="5733287"/>
            <a:ext cx="3703320" cy="38404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498848" y="5797295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46C4E"/>
                </a:solidFill>
                <a:latin typeface="Calibri"/>
              </a:rPr>
              <a:t>🔍 SBI, HDFC, ICICI dominate transaction volume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407408" y="6172199"/>
            <a:ext cx="3703320" cy="3840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498848" y="623620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22"/>
                </a:solidFill>
                <a:latin typeface="Calibri"/>
              </a:rPr>
              <a:t>💼 Public-sector banks hold the largest UPI share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407408" y="6611111"/>
            <a:ext cx="3703320" cy="3840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98848" y="667511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84C"/>
                </a:solidFill>
                <a:latin typeface="Calibri"/>
              </a:rPr>
              <a:t>✅ Private banks should aggressively push UPI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94192" y="1380744"/>
            <a:ext cx="36576" cy="612648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549640" y="138074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22"/>
                </a:solidFill>
                <a:latin typeface="Calibri"/>
              </a:rPr>
              <a:t>CHART 7  ·  Fraud Rate by Type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49640" y="1773936"/>
            <a:ext cx="333756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8549640" y="1929384"/>
            <a:ext cx="3337560" cy="932688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686800" y="20025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3A"/>
                </a:solidFill>
                <a:latin typeface="Calibri"/>
              </a:rPr>
              <a:t>Overall Fraud Rate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86800" y="235000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C2626"/>
                </a:solidFill>
                <a:latin typeface="Calibri"/>
              </a:rPr>
              <a:t>0.19%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49640" y="29900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CA39C"/>
                </a:solidFill>
                <a:latin typeface="Calibri"/>
              </a:rPr>
              <a:t>Very Low — But Recharge shows highest relative risk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549640" y="3483864"/>
            <a:ext cx="3337560" cy="65836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549640" y="3483864"/>
            <a:ext cx="64008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732520" y="36210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Recharge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32720" y="362102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C2626"/>
                </a:solidFill>
                <a:latin typeface="Calibri"/>
              </a:rPr>
              <a:t>0.25%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549640" y="4233672"/>
            <a:ext cx="3337560" cy="65836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549640" y="4233672"/>
            <a:ext cx="64008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732520" y="43708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P2M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32720" y="437083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C2626"/>
                </a:solidFill>
                <a:latin typeface="Calibri"/>
              </a:rPr>
              <a:t>0.22%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549640" y="4983480"/>
            <a:ext cx="3337560" cy="65836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549640" y="4983480"/>
            <a:ext cx="64008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732520" y="51206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Bill Pay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32720" y="512064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C2626"/>
                </a:solidFill>
                <a:latin typeface="Calibri"/>
              </a:rPr>
              <a:t>0.18%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549640" y="5733288"/>
            <a:ext cx="3337560" cy="65836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8549640" y="5733288"/>
            <a:ext cx="64008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732520" y="58704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22"/>
                </a:solidFill>
                <a:latin typeface="Calibri"/>
              </a:rPr>
              <a:t>P2P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32720" y="587044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C2626"/>
                </a:solidFill>
                <a:latin typeface="Calibri"/>
              </a:rPr>
              <a:t>0.15%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549640" y="6483096"/>
            <a:ext cx="3337560" cy="3840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641080" y="65471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2626"/>
                </a:solidFill>
                <a:latin typeface="Calibri"/>
              </a:rPr>
              <a:t>🔍 Recharge &amp; P2M have slightly higher fraud signals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549640" y="6922008"/>
            <a:ext cx="3337560" cy="38404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641080" y="69860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B22"/>
                </a:solidFill>
                <a:latin typeface="Calibri"/>
              </a:rPr>
              <a:t>💼 Digital fraud is still rare but growing in volume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549640" y="7360920"/>
            <a:ext cx="3337560" cy="38404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641080" y="7424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46C4E"/>
                </a:solidFill>
                <a:latin typeface="Calibri"/>
              </a:rPr>
              <a:t>✅ Flag unusual Recharge patterns in real-time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Six Dimensions of UPI Ecosystem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80744"/>
            <a:ext cx="3749039" cy="263347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80744"/>
            <a:ext cx="3749039" cy="5486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453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6C4E"/>
                </a:solidFill>
                <a:latin typeface="Calibri"/>
              </a:rPr>
              <a:t>Customer Behaviour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75104"/>
            <a:ext cx="33832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203704"/>
            <a:ext cx="54864" cy="34747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2112264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26–35 age group is the most active (35% of all transactions)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54864" cy="34747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697480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Android users dominate (75%); 4G is the most common network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74136"/>
            <a:ext cx="54864" cy="34747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3282696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P2P preferred over P2M — indicates peer payments over shopping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1380744"/>
            <a:ext cx="3749039" cy="263347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9392" y="1380744"/>
            <a:ext cx="3749039" cy="5486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62272" y="15453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B22"/>
                </a:solidFill>
                <a:latin typeface="Calibri"/>
              </a:rPr>
              <a:t>Transaction Trends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1975104"/>
            <a:ext cx="33832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62272" y="2203704"/>
            <a:ext cx="54864" cy="34747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26864" y="2112264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Peak usage: 2 PM – 5 PM daily — working hours dominate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2272" y="2788920"/>
            <a:ext cx="54864" cy="34747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26864" y="2697480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Transaction volume is steady month-over-month (no spike)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2272" y="3374136"/>
            <a:ext cx="54864" cy="34747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26864" y="3282696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Weekdays &gt; Weekends in transaction count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1380744"/>
            <a:ext cx="3749039" cy="263347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38744" y="1380744"/>
            <a:ext cx="3749039" cy="5486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21624" y="15453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6C4E"/>
                </a:solidFill>
                <a:latin typeface="Calibri"/>
              </a:rPr>
              <a:t>Payment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21624" y="1975104"/>
            <a:ext cx="33832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21624" y="2203704"/>
            <a:ext cx="54864" cy="34747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86216" y="2112264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Grocery is the top merchant category by transaction count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21624" y="2788920"/>
            <a:ext cx="54864" cy="34747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86216" y="2697480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Average transaction amount is ₹1,312 (median ₹629)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21624" y="3374136"/>
            <a:ext cx="54864" cy="34747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86216" y="3282696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Bill Payments have the highest average amount per transaction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" y="4215384"/>
            <a:ext cx="3749039" cy="263347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4215384"/>
            <a:ext cx="3749039" cy="5486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43799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B22"/>
                </a:solidFill>
                <a:latin typeface="Calibri"/>
              </a:rPr>
              <a:t>Bank Performance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809744"/>
            <a:ext cx="33832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" y="5038344"/>
            <a:ext cx="54864" cy="34747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4946904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SBI leads in volume; HDFC &amp; ICICI follow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623559"/>
            <a:ext cx="54864" cy="34747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" y="5532120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PNB &amp; Yes Bank have the highest failure rates (&gt;5.5%)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208775"/>
            <a:ext cx="54864" cy="347472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" y="6117336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Kotak &amp; IndusInd show competitive failure rates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79392" y="4215384"/>
            <a:ext cx="3749039" cy="263347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79392" y="4215384"/>
            <a:ext cx="3749039" cy="5486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62272" y="43799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6C4E"/>
                </a:solidFill>
                <a:latin typeface="Calibri"/>
              </a:rPr>
              <a:t>State Analysis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62272" y="4809744"/>
            <a:ext cx="33832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462272" y="5038344"/>
            <a:ext cx="54864" cy="34747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26864" y="4946904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Maharashtra generates the most transactions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62272" y="5623559"/>
            <a:ext cx="54864" cy="34747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26864" y="5532120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Delhi, Karnataka &amp; UP are next — metro cities dominate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62272" y="6208775"/>
            <a:ext cx="54864" cy="347472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26864" y="6117336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Kerala &amp; Rajasthan have the lowest adoption rates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38744" y="4215384"/>
            <a:ext cx="3749039" cy="2633472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238744" y="4215384"/>
            <a:ext cx="3749039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21624" y="43799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Fraud Analysis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21624" y="4809744"/>
            <a:ext cx="33832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21624" y="5038344"/>
            <a:ext cx="54864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86216" y="4946904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Overall fraud rate: only 0.19% — very low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21624" y="5623559"/>
            <a:ext cx="54864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586216" y="5532120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Recharge &amp; P2M types have marginally higher fraud signals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21624" y="6208775"/>
            <a:ext cx="54864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86216" y="6117336"/>
            <a:ext cx="3273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Fraud is more common in early morning hours (1–4 AM)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10 Critical Insights from 250,000 UPI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80744"/>
            <a:ext cx="5742432" cy="96926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80744"/>
            <a:ext cx="64008" cy="96926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1207" y="1655064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7" y="165506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4721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46C4E"/>
                </a:solidFill>
                <a:latin typeface="Calibri"/>
              </a:rPr>
              <a:t>P2P at 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1472184"/>
            <a:ext cx="2999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Most people send money to friends &amp; family, not merchants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380744"/>
            <a:ext cx="5742432" cy="96926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59" y="1380744"/>
            <a:ext cx="64008" cy="96926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10527" y="1655064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7" y="165506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14721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22"/>
                </a:solidFill>
                <a:latin typeface="Calibri"/>
              </a:rPr>
              <a:t>Grocery #1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1472184"/>
            <a:ext cx="2999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Grocery is the top merchant category — daily essentials drive payments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478024"/>
            <a:ext cx="5742432" cy="96926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478024"/>
            <a:ext cx="64008" cy="9692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1207" y="2752344"/>
            <a:ext cx="384048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7" y="27523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25694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Peak 2–5 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3512" y="2569464"/>
            <a:ext cx="2999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Lunch breaks and business hours drive the majority of transactions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2478024"/>
            <a:ext cx="5742432" cy="96926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59" y="2478024"/>
            <a:ext cx="64008" cy="96926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10527" y="2752344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7" y="27523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25694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46C4E"/>
                </a:solidFill>
                <a:latin typeface="Calibri"/>
              </a:rPr>
              <a:t>SBI Leads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2569464"/>
            <a:ext cx="2999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SBI handles the most transactions; PNB has the highest failure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3575304"/>
            <a:ext cx="5742432" cy="96926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575304"/>
            <a:ext cx="64008" cy="96926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21207" y="3849624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7" y="38496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" y="36667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22"/>
                </a:solidFill>
                <a:latin typeface="Calibri"/>
              </a:rPr>
              <a:t>Android 75%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53512" y="3666744"/>
            <a:ext cx="2999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Android is a critical device target for UX optimisation efforts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3575304"/>
            <a:ext cx="5742432" cy="96926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59" y="3575304"/>
            <a:ext cx="64008" cy="9692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10527" y="3849624"/>
            <a:ext cx="384048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10527" y="38496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36667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Maharashtra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2832" y="3666744"/>
            <a:ext cx="2999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Digital payments are concentrated in metro cities &amp; Maharashtra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4672583"/>
            <a:ext cx="5742432" cy="96926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4672583"/>
            <a:ext cx="64008" cy="9692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21207" y="4946903"/>
            <a:ext cx="384048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1207" y="494690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" y="476402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Fraud 0.19%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53512" y="4764023"/>
            <a:ext cx="2999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Fraud rate is very low but Recharge shows slightly higher risk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59" y="4672583"/>
            <a:ext cx="5742432" cy="96926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09359" y="4672583"/>
            <a:ext cx="64008" cy="96926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10527" y="4946903"/>
            <a:ext cx="384048" cy="38404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10527" y="494690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9168" y="476402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46C4E"/>
                </a:solidFill>
                <a:latin typeface="Calibri"/>
              </a:rPr>
              <a:t>95.2% Success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42832" y="4764023"/>
            <a:ext cx="2999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Platform is reliable but failure spikes need urgent investigation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" y="5769864"/>
            <a:ext cx="5742432" cy="96926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20040" y="5769864"/>
            <a:ext cx="64008" cy="96926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21207" y="6044183"/>
            <a:ext cx="384048" cy="38404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1207" y="604418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" y="586130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22"/>
                </a:solidFill>
                <a:latin typeface="Calibri"/>
              </a:rPr>
              <a:t>Age 26–35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53512" y="5861303"/>
            <a:ext cx="2999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Millennials are the most active — they drive UPI adoption nationwide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9359" y="5769864"/>
            <a:ext cx="5742432" cy="969264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09359" y="5769864"/>
            <a:ext cx="64008" cy="9692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510527" y="6044183"/>
            <a:ext cx="384048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10527" y="6044183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59168" y="586130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Steady Volume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42832" y="5861303"/>
            <a:ext cx="2999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Transaction volume is consistent — UPI is a daily habit, not seasonal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Actionable Strategies for All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80744"/>
            <a:ext cx="2788920" cy="53949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80744"/>
            <a:ext cx="2788920" cy="54864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040" y="1380744"/>
            <a:ext cx="2788920" cy="868680"/>
          </a:xfrm>
          <a:prstGeom prst="roundRect">
            <a:avLst>
              <a:gd name="adj" fmla="val 20000"/>
            </a:avLst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49961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563624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Banks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2514600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386584"/>
            <a:ext cx="64008" cy="138988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523744"/>
            <a:ext cx="22677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Investigate &amp; fix PNB/Yes Bank high failure rates — negotiate SLA with tech teams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67912"/>
            <a:ext cx="2514600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867912"/>
            <a:ext cx="64008" cy="138988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005072"/>
            <a:ext cx="22677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Implement real-time fraud alert systems for Recharge &amp; early-morning 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49240"/>
            <a:ext cx="2514600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349240"/>
            <a:ext cx="64008" cy="138988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22677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Push UPI adoption campaigns for rural customers (Kerala, Rajasthan)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1380744"/>
            <a:ext cx="2788920" cy="53949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0" y="1380744"/>
            <a:ext cx="2788920" cy="54864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91840" y="1380744"/>
            <a:ext cx="2788920" cy="868680"/>
          </a:xfrm>
          <a:prstGeom prst="roundRect">
            <a:avLst>
              <a:gd name="adj" fmla="val 20000"/>
            </a:avLst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56432" y="149961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1563624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Payment Apps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2386584"/>
            <a:ext cx="2514600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29000" y="2386584"/>
            <a:ext cx="64008" cy="138988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11880" y="2523744"/>
            <a:ext cx="22677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Scale server infrastructure between 1 PM – 6 PM (peak load hours)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3867912"/>
            <a:ext cx="2514600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29000" y="3867912"/>
            <a:ext cx="64008" cy="138988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11880" y="4005072"/>
            <a:ext cx="22677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Prioritise Android app performance — 75% of users depend on 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5349240"/>
            <a:ext cx="2514600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29000" y="5349240"/>
            <a:ext cx="64008" cy="138988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11880" y="5486400"/>
            <a:ext cx="22677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Simplify P2M (merchant payment) flow to increase its share beyond 30%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1380744"/>
            <a:ext cx="2788920" cy="53949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1380744"/>
            <a:ext cx="278892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63640" y="1380744"/>
            <a:ext cx="2788920" cy="868680"/>
          </a:xfrm>
          <a:prstGeom prst="roundRect">
            <a:avLst>
              <a:gd name="adj" fmla="val 20000"/>
            </a:avLst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1" y="149961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59" y="1563624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Merchants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386584"/>
            <a:ext cx="2514600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2386584"/>
            <a:ext cx="64008" cy="13898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79" y="2523744"/>
            <a:ext cx="22677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Target promotions during peak hours (2–5 PM) for maximum conversions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867912"/>
            <a:ext cx="2514600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00800" y="3867912"/>
            <a:ext cx="64008" cy="13898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79" y="4005072"/>
            <a:ext cx="22677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Partner with Grocery &amp; Shopping merchants — top spending categories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349240"/>
            <a:ext cx="2514600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00800" y="5349240"/>
            <a:ext cx="64008" cy="13898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79" y="5486400"/>
            <a:ext cx="22677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Design loyalty programs for the 26–35 age group — highest engagement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1380744"/>
            <a:ext cx="2788920" cy="53949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235440" y="1380744"/>
            <a:ext cx="2788920" cy="54864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235440" y="1380744"/>
            <a:ext cx="2788920" cy="868680"/>
          </a:xfrm>
          <a:prstGeom prst="roundRect">
            <a:avLst>
              <a:gd name="adj" fmla="val 20000"/>
            </a:avLst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00032" y="149961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1563624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72600" y="2386584"/>
            <a:ext cx="2514600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372600" y="2386584"/>
            <a:ext cx="64008" cy="1389888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55480" y="2523744"/>
            <a:ext cx="22677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Set up transaction limits &amp; 2FA verification during late-night hours (1–4 AM)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72600" y="3867912"/>
            <a:ext cx="2514600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372600" y="3867912"/>
            <a:ext cx="64008" cy="1389888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555480" y="4005072"/>
            <a:ext cx="22677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Monitor Recharge transactions for unusual frequency or high amounts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72600" y="5349240"/>
            <a:ext cx="2514600" cy="1389888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372600" y="5349240"/>
            <a:ext cx="64008" cy="1389888"/>
          </a:xfrm>
          <a:prstGeom prst="rect">
            <a:avLst/>
          </a:prstGeom>
          <a:solidFill>
            <a:srgbClr val="06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55480" y="5486400"/>
            <a:ext cx="22677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Use trusted banks (ICICI, Kotak) for high-value transactions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Real-World Applications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How This Analysis Translates into Business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80744"/>
            <a:ext cx="3749039" cy="24688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80744"/>
            <a:ext cx="3749039" cy="640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4632" y="1581912"/>
            <a:ext cx="502920" cy="50292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B22"/>
                </a:solidFill>
                <a:latin typeface="Calibri"/>
              </a:rPr>
              <a:t>Banking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185416"/>
            <a:ext cx="3419856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2313432"/>
            <a:ext cx="34198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Risk management dashboards
Failure root-cause analysis
Customer transaction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380744"/>
            <a:ext cx="3749039" cy="24688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380744"/>
            <a:ext cx="3749039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43983" y="1581912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4064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B22"/>
                </a:solidFill>
                <a:latin typeface="Calibri"/>
              </a:rPr>
              <a:t>Fraud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3" y="2185416"/>
            <a:ext cx="3419856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43983" y="2313432"/>
            <a:ext cx="34198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ML models trained on fraud_flag
Real-time transaction scoring
Anomaly detection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1380744"/>
            <a:ext cx="3749039" cy="24688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38744" y="1380744"/>
            <a:ext cx="3749039" cy="6400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03336" y="1581912"/>
            <a:ext cx="502920" cy="50292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43416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B22"/>
                </a:solidFill>
                <a:latin typeface="Calibri"/>
              </a:rPr>
              <a:t>Business Intelligence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3336" y="2185416"/>
            <a:ext cx="3419856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03336" y="2313432"/>
            <a:ext cx="34198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Power BI / Tableau dashboards
Executive KPI reporting
Market share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4014215"/>
            <a:ext cx="3749039" cy="24688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4014215"/>
            <a:ext cx="3749039" cy="640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84632" y="4215383"/>
            <a:ext cx="502920" cy="50292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4712" y="424281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B22"/>
                </a:solidFill>
                <a:latin typeface="Calibri"/>
              </a:rPr>
              <a:t>Machine Learning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" y="4818888"/>
            <a:ext cx="3419856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" y="4946904"/>
            <a:ext cx="34198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Failure prediction models
Cluster customers by behaviour
Fraud classification (XGBoost, RF)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79392" y="4014215"/>
            <a:ext cx="3749039" cy="24688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79392" y="4014215"/>
            <a:ext cx="3749039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43983" y="4215383"/>
            <a:ext cx="502920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84064" y="424281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B22"/>
                </a:solidFill>
                <a:latin typeface="Calibri"/>
              </a:rPr>
              <a:t>FinTech Products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43983" y="4818888"/>
            <a:ext cx="3419856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43983" y="4946904"/>
            <a:ext cx="34198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Personalised spending insights
Smart budget recommendations
Merchant analytics tools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38744" y="4014215"/>
            <a:ext cx="3749039" cy="246888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38744" y="4014215"/>
            <a:ext cx="3749039" cy="6400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403336" y="4215383"/>
            <a:ext cx="502920" cy="50292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43416" y="424281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B22"/>
                </a:solidFill>
                <a:latin typeface="Calibri"/>
              </a:rPr>
              <a:t>Govt / Regulatory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03336" y="4818888"/>
            <a:ext cx="3419856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03336" y="4946904"/>
            <a:ext cx="34198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3A"/>
                </a:solidFill>
                <a:latin typeface="Calibri"/>
              </a:rPr>
              <a:t>Digital India progress tracking
State-level adoption policies
RBI compliance dashboards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Honest Assessment of Scope &amp;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80744"/>
            <a:ext cx="5742432" cy="17373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80744"/>
            <a:ext cx="64008" cy="1737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7" y="147218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  Synthetic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1901952"/>
            <a:ext cx="539496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7" y="2002536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The dataset is synthetic (simulated) — not real transaction data. Patterns may not perfectly mirror actual UPI ecosystem dynamics. Real fraud rates, failure rates and amounts may differ.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380744"/>
            <a:ext cx="5742432" cy="17373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59" y="1380744"/>
            <a:ext cx="64008" cy="173736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7" y="147218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22"/>
                </a:solidFill>
                <a:latin typeface="Calibri"/>
              </a:rPr>
              <a:t>  No User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527" y="1901952"/>
            <a:ext cx="539496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7" y="2002536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Transactions lack unique user/customer IDs. We cannot track individual behaviour over time, calculate customer lifetime value, or identify repeat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282696"/>
            <a:ext cx="5742432" cy="17373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3282696"/>
            <a:ext cx="64008" cy="17373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7" y="33741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46C4E"/>
                </a:solidFill>
                <a:latin typeface="Calibri"/>
              </a:rPr>
              <a:t>  Limited Fraud Signal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7" y="3803904"/>
            <a:ext cx="539496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7" y="3904487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The fraud_flag field is pre-assigned (binary 0/1) and very sparse (0.19%). We cannot analyse the nature or method of fraud — just its presence.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282696"/>
            <a:ext cx="5742432" cy="17373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59" y="3282696"/>
            <a:ext cx="64008" cy="1737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7" y="33741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  No Geographic Coordinates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0527" y="3803904"/>
            <a:ext cx="539496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7" y="3904487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State-level is the finest geographic resolution available. City-level or PIN code-level analysis (which would be very valuable) is not possible with this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5184648"/>
            <a:ext cx="5742432" cy="17373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5184648"/>
            <a:ext cx="64008" cy="173736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7" y="52760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22"/>
                </a:solidFill>
                <a:latin typeface="Calibri"/>
              </a:rPr>
              <a:t>  No Financial Institution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" y="5705856"/>
            <a:ext cx="539496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7" y="5806440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Bank-level data doesn't include settlement timings, maintenance windows, or API version data — making root-cause analysis of failures incomplete.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5184648"/>
            <a:ext cx="5742432" cy="173736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59" y="5184648"/>
            <a:ext cx="64008" cy="17373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7" y="52760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46C4E"/>
                </a:solidFill>
                <a:latin typeface="Calibri"/>
              </a:rPr>
              <a:t>  Static Dataset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10527" y="5705856"/>
            <a:ext cx="539496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0527" y="5806440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The analysis reflects a single year (2024). The dataset is not updated in real-time, so live trends, seasonal festivals (Diwali, Eid) and economic events are not captured dynamically.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143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" y="16459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" y="795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Summary · Achievements · Business Value · 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62456"/>
            <a:ext cx="11521440" cy="1261872"/>
          </a:xfrm>
          <a:prstGeom prst="roundRect">
            <a:avLst>
              <a:gd name="adj" fmla="val 20000"/>
            </a:avLst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62456"/>
            <a:ext cx="82296" cy="12618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72184"/>
            <a:ext cx="111556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This project successfully performed a complete, industry-grade Exploratory Data Analysis on 2,50,000 UPI transactions — uncovering key patterns in transaction behaviour, failures, fraud, and bank/state performance using Python and its data ecosystem.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807208"/>
            <a:ext cx="3749039" cy="48463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2807208"/>
            <a:ext cx="3749039" cy="64008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6C4E"/>
                </a:solidFill>
                <a:latin typeface="Calibri"/>
              </a:rPr>
              <a:t>✅  Achievements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47288"/>
            <a:ext cx="33832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4632" y="3611880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4632" y="3611880"/>
            <a:ext cx="54864" cy="91440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721608"/>
            <a:ext cx="3172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Cleaned &amp; preprocessed 2,52,500 raw records → 2,50,000 quality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" y="4599432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4632" y="4599432"/>
            <a:ext cx="54864" cy="91440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3172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Answered 20 meaningful business questions with charts &amp;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5586984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4632" y="5586984"/>
            <a:ext cx="54864" cy="91440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696712"/>
            <a:ext cx="3172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Identified peak hours, top banks, fraud signals &amp; failure bottlenecks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" y="6574536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4632" y="6574536"/>
            <a:ext cx="54864" cy="91440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684264"/>
            <a:ext cx="3172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Delivered 15+ actionable recommendations across 4 stakeholder groups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2807208"/>
            <a:ext cx="3749039" cy="48463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79392" y="2807208"/>
            <a:ext cx="3749039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2272" y="2971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💡  Business 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2272" y="3447288"/>
            <a:ext cx="33832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443983" y="3611880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43983" y="3611880"/>
            <a:ext cx="54864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9431" y="3721608"/>
            <a:ext cx="3172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Banks can use findings to reduce failure rates &amp; improve reliability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3983" y="4599432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43983" y="4599432"/>
            <a:ext cx="54864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9431" y="4709160"/>
            <a:ext cx="3172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Payment apps can optimise server capacity &amp; fraud detection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43983" y="5586984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43983" y="5586984"/>
            <a:ext cx="54864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99431" y="5696712"/>
            <a:ext cx="3172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Merchants can plan promotions around peak usage patterns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43983" y="6574536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443983" y="6574536"/>
            <a:ext cx="54864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99431" y="6684264"/>
            <a:ext cx="3172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Regulators gain state-level insights for policy-making decisions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38744" y="2807208"/>
            <a:ext cx="3749039" cy="484632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38744" y="2807208"/>
            <a:ext cx="3749039" cy="64008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21624" y="2971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2B22"/>
                </a:solidFill>
                <a:latin typeface="Calibri"/>
              </a:rPr>
              <a:t>📚  Learning Outcomes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21624" y="3447288"/>
            <a:ext cx="3383280" cy="22860"/>
          </a:xfrm>
          <a:prstGeom prst="rect">
            <a:avLst/>
          </a:prstGeom>
          <a:solidFill>
            <a:srgbClr val="F1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403336" y="3611880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403336" y="3611880"/>
            <a:ext cx="54864" cy="9144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58784" y="3721608"/>
            <a:ext cx="3172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Mastered full Data Analytics Project Lifecycle end-to-end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03336" y="4599432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403336" y="4599432"/>
            <a:ext cx="54864" cy="9144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58784" y="4709160"/>
            <a:ext cx="3172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Gained hands-on expertise with Pandas, Matplotlib, Seaborn &amp; Plotly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03336" y="5586984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403336" y="5586984"/>
            <a:ext cx="54864" cy="9144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58784" y="5696712"/>
            <a:ext cx="3172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Applied business thinking to translate data into decisions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03336" y="6574536"/>
            <a:ext cx="3429000" cy="914400"/>
          </a:xfrm>
          <a:prstGeom prst="roundRect">
            <a:avLst>
              <a:gd name="adj" fmla="val 20000"/>
            </a:avLst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403336" y="6574536"/>
            <a:ext cx="54864" cy="9144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58784" y="6684264"/>
            <a:ext cx="3172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3A"/>
                </a:solidFill>
                <a:latin typeface="Calibri"/>
              </a:rPr>
              <a:t>Developed a portfolio-quality project for placements &amp; viva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" y="100584"/>
            <a:ext cx="5943600" cy="6858000"/>
          </a:xfrm>
          <a:prstGeom prst="rect">
            <a:avLst/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2491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9A84C"/>
                </a:solidFill>
                <a:latin typeface="Calibri"/>
              </a:rPr>
              <a:t>for your time &amp; attention.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429000"/>
            <a:ext cx="53035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363931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63931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UPI Digital Transactions — Data Analysis &amp; 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14223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142232"/>
            <a:ext cx="42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0" i="0" dirty="0">
                <a:solidFill>
                  <a:srgbClr val="FFFFFF"/>
                </a:solidFill>
                <a:latin typeface="Calibri"/>
              </a:rPr>
              <a:t>PRANAY TAILOR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" y="451723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C9A84C"/>
                </a:solidFill>
                <a:latin typeface="Calibri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5064" y="4512515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Python  ·  Pandas  ·  Matplotlib  ·  Seaborn  · 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Plotly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1645920"/>
            <a:ext cx="5870448" cy="3566160"/>
          </a:xfrm>
          <a:prstGeom prst="rect">
            <a:avLst/>
          </a:prstGeom>
          <a:solidFill>
            <a:srgbClr val="046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011680"/>
            <a:ext cx="58704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Q&amp;A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493008"/>
            <a:ext cx="5029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3657600"/>
            <a:ext cx="58704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Questions &amp;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4315968"/>
            <a:ext cx="58704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We welcome all your questions!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6263640"/>
            <a:ext cx="5870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9C"/>
                </a:solidFill>
                <a:latin typeface="Calibri"/>
              </a:rPr>
              <a:t>250,000 Transactions  ·  25 Slides  ·  20 Business Questions  ·  15+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3741</Words>
  <Application>Microsoft Office PowerPoint</Application>
  <PresentationFormat>Custom</PresentationFormat>
  <Paragraphs>697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Priyanshu Tailor</cp:lastModifiedBy>
  <cp:revision>2</cp:revision>
  <dcterms:created xsi:type="dcterms:W3CDTF">2013-01-27T09:14:16Z</dcterms:created>
  <dcterms:modified xsi:type="dcterms:W3CDTF">2026-07-30T19:43:18Z</dcterms:modified>
  <cp:category/>
</cp:coreProperties>
</file>